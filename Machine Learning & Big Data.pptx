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8" r:id="rId9"/>
    <p:sldId id="265" r:id="rId10"/>
    <p:sldId id="264" r:id="rId11"/>
    <p:sldId id="266" r:id="rId12"/>
    <p:sldId id="267" r:id="rId13"/>
    <p:sldId id="269" r:id="rId14"/>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6102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6008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83963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1595556"/>
            <a:ext cx="7477601" cy="1720331"/>
          </a:xfrm>
          <a:prstGeom prst="rect">
            <a:avLst/>
          </a:prstGeom>
          <a:noFill/>
          <a:ln/>
        </p:spPr>
        <p:txBody>
          <a:bodyPr wrap="square" rtlCol="0" anchor="t"/>
          <a:lstStyle/>
          <a:p>
            <a:pPr marL="0" indent="0">
              <a:lnSpc>
                <a:spcPts val="6823"/>
              </a:lnSpc>
              <a:buNone/>
            </a:pPr>
            <a:r>
              <a:rPr lang="en-US" sz="5249" dirty="0">
                <a:solidFill>
                  <a:srgbClr val="312F2B"/>
                </a:solidFill>
                <a:latin typeface="Georgia" pitchFamily="34" charset="0"/>
                <a:ea typeface="Georgia" pitchFamily="34" charset="-122"/>
                <a:cs typeface="Georgia" pitchFamily="34" charset="-120"/>
              </a:rPr>
              <a:t>Cone Classification for Dynamic Racing Events</a:t>
            </a:r>
            <a:endParaRPr lang="en-US" sz="5249" dirty="0"/>
          </a:p>
        </p:txBody>
      </p:sp>
      <p:sp>
        <p:nvSpPr>
          <p:cNvPr id="5" name="Text 2"/>
          <p:cNvSpPr/>
          <p:nvPr/>
        </p:nvSpPr>
        <p:spPr>
          <a:xfrm>
            <a:off x="833198" y="3437065"/>
            <a:ext cx="7477601" cy="1587488"/>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In dynamic racing events, teams compete to have their driverless cars complete a track in the shortest time possible. Autonomous cars are guided by recognizing four types of cones: Big Orange Cones, Blue Cones, Little Orange Cones, and Yellow Cones.</a:t>
            </a:r>
            <a:endParaRPr lang="en-US" sz="1750" dirty="0"/>
          </a:p>
        </p:txBody>
      </p:sp>
      <p:sp>
        <p:nvSpPr>
          <p:cNvPr id="6" name="Shape 3"/>
          <p:cNvSpPr/>
          <p:nvPr/>
        </p:nvSpPr>
        <p:spPr>
          <a:xfrm>
            <a:off x="833199" y="5843167"/>
            <a:ext cx="355402" cy="352788"/>
          </a:xfrm>
          <a:prstGeom prst="roundRect">
            <a:avLst>
              <a:gd name="adj" fmla="val 25916657"/>
            </a:avLst>
          </a:prstGeom>
          <a:noFill/>
          <a:ln w="7620">
            <a:solidFill>
              <a:srgbClr val="FFFFFF"/>
            </a:solidFill>
            <a:prstDash val="solid"/>
          </a:ln>
        </p:spPr>
      </p:sp>
      <p:sp>
        <p:nvSpPr>
          <p:cNvPr id="8" name="Text 4"/>
          <p:cNvSpPr/>
          <p:nvPr/>
        </p:nvSpPr>
        <p:spPr>
          <a:xfrm>
            <a:off x="1409699" y="5601585"/>
            <a:ext cx="4752975" cy="1990471"/>
          </a:xfrm>
          <a:prstGeom prst="rect">
            <a:avLst/>
          </a:prstGeom>
          <a:noFill/>
          <a:ln/>
        </p:spPr>
        <p:txBody>
          <a:bodyPr wrap="none" rtlCol="0" anchor="t"/>
          <a:lstStyle/>
          <a:p>
            <a:pPr marL="0" indent="0" algn="l">
              <a:lnSpc>
                <a:spcPts val="3062"/>
              </a:lnSpc>
              <a:buNone/>
            </a:pPr>
            <a:r>
              <a:rPr lang="en-US" sz="2187" b="1" dirty="0">
                <a:solidFill>
                  <a:srgbClr val="272525"/>
                </a:solidFill>
                <a:latin typeface="Lato" pitchFamily="34" charset="0"/>
                <a:ea typeface="Lato" pitchFamily="34" charset="-122"/>
                <a:cs typeface="Lato" pitchFamily="34" charset="-120"/>
              </a:rPr>
              <a:t>Prepared by </a:t>
            </a:r>
          </a:p>
          <a:p>
            <a:pPr marL="0" indent="0" algn="l">
              <a:lnSpc>
                <a:spcPts val="3062"/>
              </a:lnSpc>
              <a:buNone/>
            </a:pPr>
            <a:endParaRPr lang="en-US" sz="2187" b="1" dirty="0">
              <a:solidFill>
                <a:srgbClr val="272525"/>
              </a:solidFill>
              <a:latin typeface="Lato" pitchFamily="34" charset="0"/>
              <a:ea typeface="Lato" pitchFamily="34" charset="-122"/>
              <a:cs typeface="Lato" pitchFamily="34" charset="-120"/>
            </a:endParaRPr>
          </a:p>
          <a:p>
            <a:pPr marL="0" indent="0" algn="l">
              <a:lnSpc>
                <a:spcPts val="3062"/>
              </a:lnSpc>
              <a:buNone/>
            </a:pPr>
            <a:r>
              <a:rPr lang="en-US" sz="2187" b="1" dirty="0">
                <a:solidFill>
                  <a:srgbClr val="272525"/>
                </a:solidFill>
                <a:latin typeface="Lato" pitchFamily="34" charset="0"/>
                <a:ea typeface="Lato" pitchFamily="34" charset="-122"/>
                <a:cs typeface="Lato" pitchFamily="34" charset="-120"/>
              </a:rPr>
              <a:t>Sudip Kishan Sarker (P44000039)</a:t>
            </a:r>
          </a:p>
          <a:p>
            <a:pPr marL="0" indent="0" algn="l">
              <a:lnSpc>
                <a:spcPts val="3062"/>
              </a:lnSpc>
              <a:buNone/>
            </a:pPr>
            <a:r>
              <a:rPr lang="en-US" sz="2187" b="1" dirty="0" err="1">
                <a:solidFill>
                  <a:srgbClr val="272525"/>
                </a:solidFill>
                <a:latin typeface="Lato" pitchFamily="34" charset="0"/>
                <a:ea typeface="Lato" pitchFamily="34" charset="-122"/>
                <a:cs typeface="Lato" pitchFamily="34" charset="-120"/>
              </a:rPr>
              <a:t>Niloy</a:t>
            </a:r>
            <a:r>
              <a:rPr lang="en-US" sz="2187" b="1" dirty="0">
                <a:solidFill>
                  <a:srgbClr val="272525"/>
                </a:solidFill>
                <a:latin typeface="Lato" pitchFamily="34" charset="0"/>
                <a:ea typeface="Lato" pitchFamily="34" charset="-122"/>
                <a:cs typeface="Lato" pitchFamily="34" charset="-120"/>
              </a:rPr>
              <a:t> Saha (P44000040)</a:t>
            </a:r>
          </a:p>
          <a:p>
            <a:pPr marL="0" indent="0" algn="l">
              <a:lnSpc>
                <a:spcPts val="3062"/>
              </a:lnSpc>
              <a:buNone/>
            </a:pPr>
            <a:r>
              <a:rPr lang="en-US" sz="2187" b="1" dirty="0">
                <a:solidFill>
                  <a:srgbClr val="272525"/>
                </a:solidFill>
                <a:latin typeface="Lato" pitchFamily="34" charset="0"/>
                <a:ea typeface="Lato" pitchFamily="34" charset="-122"/>
                <a:cs typeface="Lato" pitchFamily="34" charset="-120"/>
              </a:rPr>
              <a:t>Md Enamul Hasan </a:t>
            </a:r>
            <a:r>
              <a:rPr lang="en-US" sz="2187" b="1" dirty="0" err="1">
                <a:solidFill>
                  <a:srgbClr val="272525"/>
                </a:solidFill>
                <a:latin typeface="Lato" pitchFamily="34" charset="0"/>
                <a:ea typeface="Lato" pitchFamily="34" charset="-122"/>
                <a:cs typeface="Lato" pitchFamily="34" charset="-120"/>
              </a:rPr>
              <a:t>Sobuj</a:t>
            </a:r>
            <a:r>
              <a:rPr lang="en-US" sz="2187" b="1" dirty="0">
                <a:solidFill>
                  <a:srgbClr val="272525"/>
                </a:solidFill>
                <a:latin typeface="Lato" pitchFamily="34" charset="0"/>
                <a:ea typeface="Lato" pitchFamily="34" charset="-122"/>
                <a:cs typeface="Lato" pitchFamily="34" charset="-120"/>
              </a:rPr>
              <a:t> (P44000060)</a:t>
            </a:r>
            <a:endParaRPr lang="en-US" sz="2187" dirty="0"/>
          </a:p>
        </p:txBody>
      </p:sp>
      <p:pic>
        <p:nvPicPr>
          <p:cNvPr id="9" name="Image 2" descr="preencoded.png"/>
          <p:cNvPicPr>
            <a:picLocks noChangeAspect="1"/>
          </p:cNvPicPr>
          <p:nvPr/>
        </p:nvPicPr>
        <p:blipFill>
          <a:blip r:embed="rId4"/>
          <a:stretch>
            <a:fillRect/>
          </a:stretch>
        </p:blipFill>
        <p:spPr>
          <a:xfrm>
            <a:off x="9144000" y="0"/>
            <a:ext cx="5486400" cy="8169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784741" y="1151025"/>
            <a:ext cx="4443889"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Contest Rules</a:t>
            </a:r>
            <a:endParaRPr lang="en-US" sz="4374" dirty="0"/>
          </a:p>
        </p:txBody>
      </p:sp>
      <p:sp>
        <p:nvSpPr>
          <p:cNvPr id="5" name="Shape 2"/>
          <p:cNvSpPr/>
          <p:nvPr/>
        </p:nvSpPr>
        <p:spPr>
          <a:xfrm>
            <a:off x="924580" y="2424158"/>
            <a:ext cx="499943" cy="496267"/>
          </a:xfrm>
          <a:prstGeom prst="roundRect">
            <a:avLst>
              <a:gd name="adj" fmla="val 11055"/>
            </a:avLst>
          </a:prstGeom>
          <a:solidFill>
            <a:srgbClr val="E8E8E3"/>
          </a:solidFill>
          <a:ln w="7620">
            <a:solidFill>
              <a:srgbClr val="D1D1C7"/>
            </a:solidFill>
            <a:prstDash val="solid"/>
          </a:ln>
        </p:spPr>
      </p:sp>
      <p:sp>
        <p:nvSpPr>
          <p:cNvPr id="6" name="Text 3"/>
          <p:cNvSpPr/>
          <p:nvPr/>
        </p:nvSpPr>
        <p:spPr>
          <a:xfrm>
            <a:off x="1083112" y="2424158"/>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1</a:t>
            </a:r>
            <a:endParaRPr lang="en-US" sz="2624" dirty="0"/>
          </a:p>
        </p:txBody>
      </p:sp>
      <p:sp>
        <p:nvSpPr>
          <p:cNvPr id="7" name="Text 4"/>
          <p:cNvSpPr/>
          <p:nvPr/>
        </p:nvSpPr>
        <p:spPr>
          <a:xfrm>
            <a:off x="1555313" y="2427704"/>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Objective:</a:t>
            </a:r>
            <a:endParaRPr lang="en-US" sz="2187" dirty="0"/>
          </a:p>
        </p:txBody>
      </p:sp>
      <p:sp>
        <p:nvSpPr>
          <p:cNvPr id="8" name="Text 5"/>
          <p:cNvSpPr/>
          <p:nvPr/>
        </p:nvSpPr>
        <p:spPr>
          <a:xfrm>
            <a:off x="1555313" y="2854122"/>
            <a:ext cx="3451146" cy="1190616"/>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Predict the type of cone using data analysis and Machine Learning techniques.</a:t>
            </a:r>
            <a:endParaRPr lang="en-US" sz="1750" dirty="0"/>
          </a:p>
        </p:txBody>
      </p:sp>
      <p:sp>
        <p:nvSpPr>
          <p:cNvPr id="9" name="Shape 6"/>
          <p:cNvSpPr/>
          <p:nvPr/>
        </p:nvSpPr>
        <p:spPr>
          <a:xfrm>
            <a:off x="5137249" y="3836410"/>
            <a:ext cx="499943" cy="496267"/>
          </a:xfrm>
          <a:prstGeom prst="roundRect">
            <a:avLst>
              <a:gd name="adj" fmla="val 11055"/>
            </a:avLst>
          </a:prstGeom>
          <a:solidFill>
            <a:srgbClr val="E8E8E3"/>
          </a:solidFill>
          <a:ln w="7620">
            <a:solidFill>
              <a:srgbClr val="D1D1C7"/>
            </a:solidFill>
            <a:prstDash val="solid"/>
          </a:ln>
        </p:spPr>
      </p:sp>
      <p:sp>
        <p:nvSpPr>
          <p:cNvPr id="10" name="Text 7"/>
          <p:cNvSpPr/>
          <p:nvPr/>
        </p:nvSpPr>
        <p:spPr>
          <a:xfrm>
            <a:off x="5295780" y="3823935"/>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2</a:t>
            </a:r>
            <a:endParaRPr lang="en-US" sz="2624" dirty="0"/>
          </a:p>
        </p:txBody>
      </p:sp>
      <p:sp>
        <p:nvSpPr>
          <p:cNvPr id="11" name="Text 8"/>
          <p:cNvSpPr/>
          <p:nvPr/>
        </p:nvSpPr>
        <p:spPr>
          <a:xfrm>
            <a:off x="5795723" y="3865566"/>
            <a:ext cx="2621280"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Performance Metric:</a:t>
            </a:r>
            <a:endParaRPr lang="en-US" sz="2187" dirty="0"/>
          </a:p>
        </p:txBody>
      </p:sp>
      <p:sp>
        <p:nvSpPr>
          <p:cNvPr id="12" name="Text 9"/>
          <p:cNvSpPr/>
          <p:nvPr/>
        </p:nvSpPr>
        <p:spPr>
          <a:xfrm>
            <a:off x="5836205" y="4321502"/>
            <a:ext cx="3451146" cy="793744"/>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Accuracy is the measure to maximize.</a:t>
            </a:r>
            <a:endParaRPr lang="en-US" sz="1750" dirty="0"/>
          </a:p>
        </p:txBody>
      </p:sp>
      <p:sp>
        <p:nvSpPr>
          <p:cNvPr id="13" name="Shape 10"/>
          <p:cNvSpPr/>
          <p:nvPr/>
        </p:nvSpPr>
        <p:spPr>
          <a:xfrm>
            <a:off x="9624060" y="5078143"/>
            <a:ext cx="499943" cy="496267"/>
          </a:xfrm>
          <a:prstGeom prst="roundRect">
            <a:avLst>
              <a:gd name="adj" fmla="val 11055"/>
            </a:avLst>
          </a:prstGeom>
          <a:solidFill>
            <a:srgbClr val="E8E8E3"/>
          </a:solidFill>
          <a:ln w="7620">
            <a:solidFill>
              <a:srgbClr val="D1D1C7"/>
            </a:solidFill>
            <a:prstDash val="solid"/>
          </a:ln>
        </p:spPr>
      </p:sp>
      <p:sp>
        <p:nvSpPr>
          <p:cNvPr id="14" name="Text 11"/>
          <p:cNvSpPr/>
          <p:nvPr/>
        </p:nvSpPr>
        <p:spPr>
          <a:xfrm>
            <a:off x="9782532" y="5111235"/>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3</a:t>
            </a:r>
            <a:endParaRPr lang="en-US" sz="2624" dirty="0"/>
          </a:p>
        </p:txBody>
      </p:sp>
      <p:sp>
        <p:nvSpPr>
          <p:cNvPr id="15" name="Text 12"/>
          <p:cNvSpPr/>
          <p:nvPr/>
        </p:nvSpPr>
        <p:spPr>
          <a:xfrm>
            <a:off x="10346174" y="5147046"/>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Tools:</a:t>
            </a:r>
            <a:endParaRPr lang="en-US" sz="2187" dirty="0"/>
          </a:p>
        </p:txBody>
      </p:sp>
      <p:sp>
        <p:nvSpPr>
          <p:cNvPr id="16" name="Text 13"/>
          <p:cNvSpPr/>
          <p:nvPr/>
        </p:nvSpPr>
        <p:spPr>
          <a:xfrm>
            <a:off x="10346174" y="5703825"/>
            <a:ext cx="3451146" cy="1697100"/>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Participants can use external tools like Weka, Knime, and </a:t>
            </a:r>
            <a:r>
              <a:rPr lang="en-US" sz="1750" dirty="0" err="1">
                <a:solidFill>
                  <a:srgbClr val="272525"/>
                </a:solidFill>
                <a:latin typeface="Lato" pitchFamily="34" charset="0"/>
                <a:ea typeface="Lato" pitchFamily="34" charset="-122"/>
                <a:cs typeface="Lato" pitchFamily="34" charset="-120"/>
              </a:rPr>
              <a:t>MatLab</a:t>
            </a:r>
            <a:r>
              <a:rPr lang="en-US" sz="1750" dirty="0">
                <a:solidFill>
                  <a:srgbClr val="272525"/>
                </a:solidFill>
                <a:latin typeface="Lato" pitchFamily="34" charset="0"/>
                <a:ea typeface="Lato" pitchFamily="34" charset="-122"/>
                <a:cs typeface="Lato" pitchFamily="34" charset="-120"/>
              </a:rPr>
              <a:t>. We used </a:t>
            </a:r>
            <a:r>
              <a:rPr lang="en-US" sz="1750" dirty="0" err="1">
                <a:solidFill>
                  <a:srgbClr val="272525"/>
                </a:solidFill>
                <a:latin typeface="Lato" pitchFamily="34" charset="0"/>
                <a:ea typeface="Lato" pitchFamily="34" charset="-122"/>
                <a:cs typeface="Lato" pitchFamily="34" charset="-120"/>
              </a:rPr>
              <a:t>Jupyter</a:t>
            </a:r>
            <a:r>
              <a:rPr lang="en-US" sz="1750" dirty="0">
                <a:solidFill>
                  <a:srgbClr val="272525"/>
                </a:solidFill>
                <a:latin typeface="Lato" pitchFamily="34" charset="0"/>
                <a:ea typeface="Lato" pitchFamily="34" charset="-122"/>
                <a:cs typeface="Lato" pitchFamily="34" charset="-120"/>
              </a:rPr>
              <a:t> notebook(Anaconda). </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587335" y="846692"/>
            <a:ext cx="3543300" cy="505250"/>
          </a:xfrm>
          <a:prstGeom prst="rect">
            <a:avLst/>
          </a:prstGeom>
          <a:noFill/>
          <a:ln/>
        </p:spPr>
        <p:txBody>
          <a:bodyPr wrap="none" rtlCol="0" anchor="t"/>
          <a:lstStyle/>
          <a:p>
            <a:pPr marL="0" indent="0">
              <a:lnSpc>
                <a:spcPts val="4009"/>
              </a:lnSpc>
              <a:buNone/>
            </a:pPr>
            <a:r>
              <a:rPr lang="en-US" sz="3083" dirty="0">
                <a:solidFill>
                  <a:srgbClr val="312F2B"/>
                </a:solidFill>
                <a:latin typeface="Georgia" pitchFamily="34" charset="0"/>
                <a:ea typeface="Georgia" pitchFamily="34" charset="-122"/>
                <a:cs typeface="Georgia" pitchFamily="34" charset="-120"/>
              </a:rPr>
              <a:t>Dataset Description</a:t>
            </a:r>
            <a:endParaRPr lang="en-US" sz="3083" dirty="0"/>
          </a:p>
        </p:txBody>
      </p:sp>
      <p:sp>
        <p:nvSpPr>
          <p:cNvPr id="5" name="Shape 2"/>
          <p:cNvSpPr/>
          <p:nvPr/>
        </p:nvSpPr>
        <p:spPr>
          <a:xfrm>
            <a:off x="587335" y="1839699"/>
            <a:ext cx="352425" cy="349834"/>
          </a:xfrm>
          <a:prstGeom prst="roundRect">
            <a:avLst>
              <a:gd name="adj" fmla="val 15683"/>
            </a:avLst>
          </a:prstGeom>
          <a:solidFill>
            <a:srgbClr val="E8E8E3"/>
          </a:solidFill>
          <a:ln w="7620">
            <a:solidFill>
              <a:srgbClr val="D1D1C7"/>
            </a:solidFill>
            <a:prstDash val="solid"/>
          </a:ln>
        </p:spPr>
      </p:sp>
      <p:sp>
        <p:nvSpPr>
          <p:cNvPr id="6" name="Text 3"/>
          <p:cNvSpPr/>
          <p:nvPr/>
        </p:nvSpPr>
        <p:spPr>
          <a:xfrm>
            <a:off x="698778" y="1863101"/>
            <a:ext cx="129540" cy="303032"/>
          </a:xfrm>
          <a:prstGeom prst="rect">
            <a:avLst/>
          </a:prstGeom>
          <a:noFill/>
          <a:ln/>
        </p:spPr>
        <p:txBody>
          <a:bodyPr wrap="none" rtlCol="0" anchor="t"/>
          <a:lstStyle/>
          <a:p>
            <a:pPr marL="0" indent="0" algn="ctr">
              <a:lnSpc>
                <a:spcPts val="2405"/>
              </a:lnSpc>
              <a:buNone/>
            </a:pPr>
            <a:r>
              <a:rPr lang="en-US" sz="1850" dirty="0">
                <a:solidFill>
                  <a:srgbClr val="272525"/>
                </a:solidFill>
                <a:latin typeface="Georgia" pitchFamily="34" charset="0"/>
                <a:ea typeface="Georgia" pitchFamily="34" charset="-122"/>
                <a:cs typeface="Georgia" pitchFamily="34" charset="-120"/>
              </a:rPr>
              <a:t>1</a:t>
            </a:r>
            <a:endParaRPr lang="en-US" sz="1850" dirty="0"/>
          </a:p>
        </p:txBody>
      </p:sp>
      <p:sp>
        <p:nvSpPr>
          <p:cNvPr id="7" name="Text 4"/>
          <p:cNvSpPr/>
          <p:nvPr/>
        </p:nvSpPr>
        <p:spPr>
          <a:xfrm>
            <a:off x="1096328" y="1888274"/>
            <a:ext cx="1566386" cy="252684"/>
          </a:xfrm>
          <a:prstGeom prst="rect">
            <a:avLst/>
          </a:prstGeom>
          <a:noFill/>
          <a:ln/>
        </p:spPr>
        <p:txBody>
          <a:bodyPr wrap="none" rtlCol="0" anchor="t"/>
          <a:lstStyle/>
          <a:p>
            <a:pPr marL="0" indent="0">
              <a:lnSpc>
                <a:spcPts val="2004"/>
              </a:lnSpc>
              <a:buNone/>
            </a:pPr>
            <a:r>
              <a:rPr lang="en-US" dirty="0">
                <a:solidFill>
                  <a:srgbClr val="272525"/>
                </a:solidFill>
                <a:latin typeface="Georgia" pitchFamily="34" charset="0"/>
                <a:ea typeface="Georgia" pitchFamily="34" charset="-122"/>
                <a:cs typeface="Georgia" pitchFamily="34" charset="-120"/>
              </a:rPr>
              <a:t>Dataset:</a:t>
            </a:r>
            <a:endParaRPr lang="en-US" dirty="0"/>
          </a:p>
        </p:txBody>
      </p:sp>
      <p:sp>
        <p:nvSpPr>
          <p:cNvPr id="8" name="Text 5"/>
          <p:cNvSpPr/>
          <p:nvPr/>
        </p:nvSpPr>
        <p:spPr>
          <a:xfrm>
            <a:off x="1096328" y="2280892"/>
            <a:ext cx="3871913" cy="957608"/>
          </a:xfrm>
          <a:prstGeom prst="rect">
            <a:avLst/>
          </a:prstGeom>
          <a:noFill/>
          <a:ln/>
        </p:spPr>
        <p:txBody>
          <a:bodyPr wrap="square" rtlCol="0" anchor="t"/>
          <a:lstStyle/>
          <a:p>
            <a:pPr marL="0" indent="0">
              <a:lnSpc>
                <a:spcPts val="2220"/>
              </a:lnSpc>
              <a:buNone/>
            </a:pPr>
            <a:r>
              <a:rPr lang="en-US" sz="1600" dirty="0">
                <a:solidFill>
                  <a:srgbClr val="272525"/>
                </a:solidFill>
                <a:latin typeface="Lato" pitchFamily="34" charset="0"/>
                <a:ea typeface="Lato" pitchFamily="34" charset="-122"/>
                <a:cs typeface="Lato" pitchFamily="34" charset="-120"/>
              </a:rPr>
              <a:t>The dataset provided by UniNa Corse Driverless Team was obtained from videos of FormulaSAE tracks.</a:t>
            </a:r>
            <a:endParaRPr lang="en-US" sz="1600" dirty="0"/>
          </a:p>
        </p:txBody>
      </p:sp>
      <p:sp>
        <p:nvSpPr>
          <p:cNvPr id="9" name="Shape 6"/>
          <p:cNvSpPr/>
          <p:nvPr/>
        </p:nvSpPr>
        <p:spPr>
          <a:xfrm>
            <a:off x="5124807" y="1839699"/>
            <a:ext cx="352425" cy="349834"/>
          </a:xfrm>
          <a:prstGeom prst="roundRect">
            <a:avLst>
              <a:gd name="adj" fmla="val 15683"/>
            </a:avLst>
          </a:prstGeom>
          <a:solidFill>
            <a:srgbClr val="E8E8E3"/>
          </a:solidFill>
          <a:ln w="7620">
            <a:solidFill>
              <a:srgbClr val="D1D1C7"/>
            </a:solidFill>
            <a:prstDash val="solid"/>
          </a:ln>
        </p:spPr>
      </p:sp>
      <p:sp>
        <p:nvSpPr>
          <p:cNvPr id="10" name="Text 7"/>
          <p:cNvSpPr/>
          <p:nvPr/>
        </p:nvSpPr>
        <p:spPr>
          <a:xfrm>
            <a:off x="5236250" y="1863101"/>
            <a:ext cx="129540" cy="303032"/>
          </a:xfrm>
          <a:prstGeom prst="rect">
            <a:avLst/>
          </a:prstGeom>
          <a:noFill/>
          <a:ln/>
        </p:spPr>
        <p:txBody>
          <a:bodyPr wrap="none" rtlCol="0" anchor="t"/>
          <a:lstStyle/>
          <a:p>
            <a:pPr marL="0" indent="0" algn="ctr">
              <a:lnSpc>
                <a:spcPts val="2405"/>
              </a:lnSpc>
              <a:buNone/>
            </a:pPr>
            <a:r>
              <a:rPr lang="en-US" sz="1850" dirty="0">
                <a:solidFill>
                  <a:srgbClr val="272525"/>
                </a:solidFill>
                <a:latin typeface="Georgia" pitchFamily="34" charset="0"/>
                <a:ea typeface="Georgia" pitchFamily="34" charset="-122"/>
                <a:cs typeface="Georgia" pitchFamily="34" charset="-120"/>
              </a:rPr>
              <a:t>2</a:t>
            </a:r>
            <a:endParaRPr lang="en-US" sz="1850" dirty="0"/>
          </a:p>
        </p:txBody>
      </p:sp>
      <p:sp>
        <p:nvSpPr>
          <p:cNvPr id="11" name="Text 8"/>
          <p:cNvSpPr/>
          <p:nvPr/>
        </p:nvSpPr>
        <p:spPr>
          <a:xfrm>
            <a:off x="5633799" y="1888274"/>
            <a:ext cx="1566386" cy="252684"/>
          </a:xfrm>
          <a:prstGeom prst="rect">
            <a:avLst/>
          </a:prstGeom>
          <a:noFill/>
          <a:ln/>
        </p:spPr>
        <p:txBody>
          <a:bodyPr wrap="none" rtlCol="0" anchor="t"/>
          <a:lstStyle/>
          <a:p>
            <a:pPr marL="0" indent="0">
              <a:lnSpc>
                <a:spcPts val="2004"/>
              </a:lnSpc>
              <a:buNone/>
            </a:pPr>
            <a:r>
              <a:rPr lang="en-US" dirty="0">
                <a:solidFill>
                  <a:srgbClr val="272525"/>
                </a:solidFill>
                <a:latin typeface="Georgia" pitchFamily="34" charset="0"/>
                <a:ea typeface="Georgia" pitchFamily="34" charset="-122"/>
                <a:cs typeface="Georgia" pitchFamily="34" charset="-120"/>
              </a:rPr>
              <a:t>Composition:</a:t>
            </a:r>
            <a:endParaRPr lang="en-US" dirty="0"/>
          </a:p>
        </p:txBody>
      </p:sp>
      <p:sp>
        <p:nvSpPr>
          <p:cNvPr id="12" name="Text 9"/>
          <p:cNvSpPr/>
          <p:nvPr/>
        </p:nvSpPr>
        <p:spPr>
          <a:xfrm>
            <a:off x="5633799" y="2280892"/>
            <a:ext cx="3871913" cy="2021353"/>
          </a:xfrm>
          <a:prstGeom prst="rect">
            <a:avLst/>
          </a:prstGeom>
          <a:noFill/>
          <a:ln/>
        </p:spPr>
        <p:txBody>
          <a:bodyPr wrap="square" rtlCol="0" anchor="t"/>
          <a:lstStyle/>
          <a:p>
            <a:pPr marL="0" indent="0">
              <a:lnSpc>
                <a:spcPts val="2220"/>
              </a:lnSpc>
              <a:buNone/>
            </a:pPr>
            <a:r>
              <a:rPr lang="en-US" sz="1600" dirty="0">
                <a:solidFill>
                  <a:srgbClr val="272525"/>
                </a:solidFill>
                <a:latin typeface="Lato" pitchFamily="34" charset="0"/>
                <a:ea typeface="Lato" pitchFamily="34" charset="-122"/>
                <a:cs typeface="Lato" pitchFamily="34" charset="-120"/>
              </a:rPr>
              <a:t>The original dataset contains images labeled with bounding boxes surrounding each cone. The new dataset was obtained by extracting cones from the original images as separate images using the bounding boxes and assigning the respective class ID to each cone image.</a:t>
            </a:r>
            <a:endParaRPr lang="en-US" sz="1600" dirty="0"/>
          </a:p>
        </p:txBody>
      </p:sp>
      <p:sp>
        <p:nvSpPr>
          <p:cNvPr id="13" name="Shape 10"/>
          <p:cNvSpPr/>
          <p:nvPr/>
        </p:nvSpPr>
        <p:spPr>
          <a:xfrm>
            <a:off x="9662279" y="1839699"/>
            <a:ext cx="352425" cy="349834"/>
          </a:xfrm>
          <a:prstGeom prst="roundRect">
            <a:avLst>
              <a:gd name="adj" fmla="val 15683"/>
            </a:avLst>
          </a:prstGeom>
          <a:solidFill>
            <a:srgbClr val="E8E8E3"/>
          </a:solidFill>
          <a:ln w="7620">
            <a:solidFill>
              <a:srgbClr val="D1D1C7"/>
            </a:solidFill>
            <a:prstDash val="solid"/>
          </a:ln>
        </p:spPr>
      </p:sp>
      <p:sp>
        <p:nvSpPr>
          <p:cNvPr id="14" name="Text 11"/>
          <p:cNvSpPr/>
          <p:nvPr/>
        </p:nvSpPr>
        <p:spPr>
          <a:xfrm>
            <a:off x="9773722" y="1863101"/>
            <a:ext cx="129540" cy="303032"/>
          </a:xfrm>
          <a:prstGeom prst="rect">
            <a:avLst/>
          </a:prstGeom>
          <a:noFill/>
          <a:ln/>
        </p:spPr>
        <p:txBody>
          <a:bodyPr wrap="none" rtlCol="0" anchor="t"/>
          <a:lstStyle/>
          <a:p>
            <a:pPr marL="0" indent="0" algn="ctr">
              <a:lnSpc>
                <a:spcPts val="2405"/>
              </a:lnSpc>
              <a:buNone/>
            </a:pPr>
            <a:r>
              <a:rPr lang="en-US" sz="1850" dirty="0">
                <a:solidFill>
                  <a:srgbClr val="272525"/>
                </a:solidFill>
                <a:latin typeface="Georgia" pitchFamily="34" charset="0"/>
                <a:ea typeface="Georgia" pitchFamily="34" charset="-122"/>
                <a:cs typeface="Georgia" pitchFamily="34" charset="-120"/>
              </a:rPr>
              <a:t>3</a:t>
            </a:r>
            <a:endParaRPr lang="en-US" sz="1850" dirty="0"/>
          </a:p>
        </p:txBody>
      </p:sp>
      <p:sp>
        <p:nvSpPr>
          <p:cNvPr id="15" name="Text 12"/>
          <p:cNvSpPr/>
          <p:nvPr/>
        </p:nvSpPr>
        <p:spPr>
          <a:xfrm>
            <a:off x="10171271" y="1888274"/>
            <a:ext cx="1566386" cy="252684"/>
          </a:xfrm>
          <a:prstGeom prst="rect">
            <a:avLst/>
          </a:prstGeom>
          <a:noFill/>
          <a:ln/>
        </p:spPr>
        <p:txBody>
          <a:bodyPr wrap="none" rtlCol="0" anchor="t"/>
          <a:lstStyle/>
          <a:p>
            <a:pPr marL="0" indent="0">
              <a:lnSpc>
                <a:spcPts val="2004"/>
              </a:lnSpc>
              <a:buNone/>
            </a:pPr>
            <a:r>
              <a:rPr lang="en-US" dirty="0">
                <a:solidFill>
                  <a:srgbClr val="272525"/>
                </a:solidFill>
                <a:latin typeface="Georgia" pitchFamily="34" charset="0"/>
                <a:ea typeface="Georgia" pitchFamily="34" charset="-122"/>
                <a:cs typeface="Georgia" pitchFamily="34" charset="-120"/>
              </a:rPr>
              <a:t>Classes:</a:t>
            </a:r>
            <a:endParaRPr lang="en-US" dirty="0"/>
          </a:p>
        </p:txBody>
      </p:sp>
      <p:sp>
        <p:nvSpPr>
          <p:cNvPr id="16" name="Text 13"/>
          <p:cNvSpPr/>
          <p:nvPr/>
        </p:nvSpPr>
        <p:spPr>
          <a:xfrm>
            <a:off x="10171271" y="2280891"/>
            <a:ext cx="3871913" cy="957607"/>
          </a:xfrm>
          <a:prstGeom prst="rect">
            <a:avLst/>
          </a:prstGeom>
          <a:noFill/>
          <a:ln/>
        </p:spPr>
        <p:txBody>
          <a:bodyPr wrap="square" rtlCol="0" anchor="t"/>
          <a:lstStyle/>
          <a:p>
            <a:pPr marL="0" indent="0">
              <a:lnSpc>
                <a:spcPts val="2220"/>
              </a:lnSpc>
              <a:buNone/>
            </a:pPr>
            <a:r>
              <a:rPr lang="en-US" sz="1600" dirty="0">
                <a:solidFill>
                  <a:srgbClr val="272525"/>
                </a:solidFill>
                <a:latin typeface="Lato" pitchFamily="34" charset="0"/>
                <a:ea typeface="Lato" pitchFamily="34" charset="-122"/>
                <a:cs typeface="Lato" pitchFamily="34" charset="-120"/>
              </a:rPr>
              <a:t>The classes are Big Orange Cones, Blue Cones, Little Orange Cones, and Yellow Cones.</a:t>
            </a:r>
            <a:endParaRPr lang="en-US" sz="1600" dirty="0"/>
          </a:p>
        </p:txBody>
      </p:sp>
      <p:pic>
        <p:nvPicPr>
          <p:cNvPr id="17" name="Image 1" descr="preencoded.png"/>
          <p:cNvPicPr>
            <a:picLocks noChangeAspect="1"/>
          </p:cNvPicPr>
          <p:nvPr/>
        </p:nvPicPr>
        <p:blipFill>
          <a:blip r:embed="rId4"/>
          <a:stretch>
            <a:fillRect/>
          </a:stretch>
        </p:blipFill>
        <p:spPr>
          <a:xfrm>
            <a:off x="1759625" y="4154393"/>
            <a:ext cx="2036326" cy="2021353"/>
          </a:xfrm>
          <a:prstGeom prst="rect">
            <a:avLst/>
          </a:prstGeom>
        </p:spPr>
      </p:pic>
      <p:sp>
        <p:nvSpPr>
          <p:cNvPr id="18" name="Text 14"/>
          <p:cNvSpPr/>
          <p:nvPr/>
        </p:nvSpPr>
        <p:spPr>
          <a:xfrm>
            <a:off x="1478518" y="6370045"/>
            <a:ext cx="2598420" cy="252684"/>
          </a:xfrm>
          <a:prstGeom prst="rect">
            <a:avLst/>
          </a:prstGeom>
          <a:noFill/>
          <a:ln/>
        </p:spPr>
        <p:txBody>
          <a:bodyPr wrap="none" rtlCol="0" anchor="t"/>
          <a:lstStyle/>
          <a:p>
            <a:pPr marL="0" indent="0" algn="ctr">
              <a:lnSpc>
                <a:spcPts val="2004"/>
              </a:lnSpc>
              <a:buNone/>
            </a:pPr>
            <a:r>
              <a:rPr lang="en-US" sz="1542" dirty="0">
                <a:solidFill>
                  <a:srgbClr val="312F2B"/>
                </a:solidFill>
                <a:latin typeface="Georgia" pitchFamily="34" charset="0"/>
                <a:ea typeface="Georgia" pitchFamily="34" charset="-122"/>
                <a:cs typeface="Georgia" pitchFamily="34" charset="-120"/>
              </a:rPr>
              <a:t>Videos of FormulaSAE tracks</a:t>
            </a:r>
            <a:endParaRPr lang="en-US" sz="1542" dirty="0"/>
          </a:p>
        </p:txBody>
      </p:sp>
      <p:sp>
        <p:nvSpPr>
          <p:cNvPr id="19" name="Text 15"/>
          <p:cNvSpPr/>
          <p:nvPr/>
        </p:nvSpPr>
        <p:spPr>
          <a:xfrm>
            <a:off x="587335" y="6762662"/>
            <a:ext cx="4380905" cy="778680"/>
          </a:xfrm>
          <a:prstGeom prst="rect">
            <a:avLst/>
          </a:prstGeom>
          <a:noFill/>
          <a:ln/>
        </p:spPr>
        <p:txBody>
          <a:bodyPr wrap="none" rtlCol="0" anchor="t"/>
          <a:lstStyle/>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Dataset obtained from several videos of </a:t>
            </a:r>
          </a:p>
          <a:p>
            <a:pPr marL="0" indent="0" algn="ctr">
              <a:lnSpc>
                <a:spcPts val="2220"/>
              </a:lnSpc>
              <a:buNone/>
            </a:pPr>
            <a:r>
              <a:rPr lang="en-US" sz="1600" dirty="0" err="1">
                <a:solidFill>
                  <a:srgbClr val="272525"/>
                </a:solidFill>
                <a:latin typeface="Lato" pitchFamily="34" charset="0"/>
                <a:ea typeface="Lato" pitchFamily="34" charset="-122"/>
                <a:cs typeface="Lato" pitchFamily="34" charset="-120"/>
              </a:rPr>
              <a:t>FormulaSAE</a:t>
            </a:r>
            <a:r>
              <a:rPr lang="en-US" sz="1600" dirty="0">
                <a:solidFill>
                  <a:srgbClr val="272525"/>
                </a:solidFill>
                <a:latin typeface="Lato" pitchFamily="34" charset="0"/>
                <a:ea typeface="Lato" pitchFamily="34" charset="-122"/>
                <a:cs typeface="Lato" pitchFamily="34" charset="-120"/>
              </a:rPr>
              <a:t> tracks.</a:t>
            </a:r>
            <a:endParaRPr lang="en-US" sz="1600" dirty="0"/>
          </a:p>
        </p:txBody>
      </p:sp>
      <p:pic>
        <p:nvPicPr>
          <p:cNvPr id="20" name="Image 2" descr="preencoded.png"/>
          <p:cNvPicPr>
            <a:picLocks noChangeAspect="1"/>
          </p:cNvPicPr>
          <p:nvPr/>
        </p:nvPicPr>
        <p:blipFill>
          <a:blip r:embed="rId5"/>
          <a:stretch>
            <a:fillRect/>
          </a:stretch>
        </p:blipFill>
        <p:spPr>
          <a:xfrm>
            <a:off x="6297097" y="4621160"/>
            <a:ext cx="2036326" cy="1554585"/>
          </a:xfrm>
          <a:prstGeom prst="rect">
            <a:avLst/>
          </a:prstGeom>
        </p:spPr>
      </p:pic>
      <p:sp>
        <p:nvSpPr>
          <p:cNvPr id="21" name="Text 16"/>
          <p:cNvSpPr/>
          <p:nvPr/>
        </p:nvSpPr>
        <p:spPr>
          <a:xfrm>
            <a:off x="6532007" y="6370045"/>
            <a:ext cx="1566386" cy="252684"/>
          </a:xfrm>
          <a:prstGeom prst="rect">
            <a:avLst/>
          </a:prstGeom>
          <a:noFill/>
          <a:ln/>
        </p:spPr>
        <p:txBody>
          <a:bodyPr wrap="none" rtlCol="0" anchor="t"/>
          <a:lstStyle/>
          <a:p>
            <a:pPr marL="0" indent="0" algn="ctr">
              <a:lnSpc>
                <a:spcPts val="2004"/>
              </a:lnSpc>
              <a:buNone/>
            </a:pPr>
            <a:r>
              <a:rPr lang="en-US" sz="1542" dirty="0">
                <a:solidFill>
                  <a:srgbClr val="312F2B"/>
                </a:solidFill>
                <a:latin typeface="Georgia" pitchFamily="34" charset="0"/>
                <a:ea typeface="Georgia" pitchFamily="34" charset="-122"/>
                <a:cs typeface="Georgia" pitchFamily="34" charset="-120"/>
              </a:rPr>
              <a:t>New dataset</a:t>
            </a:r>
            <a:endParaRPr lang="en-US" sz="1542" dirty="0"/>
          </a:p>
        </p:txBody>
      </p:sp>
      <p:sp>
        <p:nvSpPr>
          <p:cNvPr id="22" name="Text 17"/>
          <p:cNvSpPr/>
          <p:nvPr/>
        </p:nvSpPr>
        <p:spPr>
          <a:xfrm>
            <a:off x="5124807" y="6762661"/>
            <a:ext cx="4380905" cy="955661"/>
          </a:xfrm>
          <a:prstGeom prst="rect">
            <a:avLst/>
          </a:prstGeom>
          <a:noFill/>
          <a:ln/>
        </p:spPr>
        <p:txBody>
          <a:bodyPr wrap="square" rtlCol="0" anchor="t"/>
          <a:lstStyle/>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New dataset obtained from the original </a:t>
            </a:r>
          </a:p>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dataset with cones labeled with their </a:t>
            </a:r>
          </a:p>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respective class ID.</a:t>
            </a:r>
            <a:endParaRPr lang="en-US" sz="1600" dirty="0"/>
          </a:p>
        </p:txBody>
      </p:sp>
      <p:pic>
        <p:nvPicPr>
          <p:cNvPr id="23" name="Image 3" descr="preencoded.png"/>
          <p:cNvPicPr>
            <a:picLocks noChangeAspect="1"/>
          </p:cNvPicPr>
          <p:nvPr/>
        </p:nvPicPr>
        <p:blipFill>
          <a:blip r:embed="rId6"/>
          <a:stretch>
            <a:fillRect/>
          </a:stretch>
        </p:blipFill>
        <p:spPr>
          <a:xfrm>
            <a:off x="10834568" y="4154393"/>
            <a:ext cx="2036326" cy="2021353"/>
          </a:xfrm>
          <a:prstGeom prst="rect">
            <a:avLst/>
          </a:prstGeom>
        </p:spPr>
      </p:pic>
      <p:sp>
        <p:nvSpPr>
          <p:cNvPr id="24" name="Text 18"/>
          <p:cNvSpPr/>
          <p:nvPr/>
        </p:nvSpPr>
        <p:spPr>
          <a:xfrm>
            <a:off x="11069479" y="6370045"/>
            <a:ext cx="1566386" cy="252684"/>
          </a:xfrm>
          <a:prstGeom prst="rect">
            <a:avLst/>
          </a:prstGeom>
          <a:noFill/>
          <a:ln/>
        </p:spPr>
        <p:txBody>
          <a:bodyPr wrap="none" rtlCol="0" anchor="t"/>
          <a:lstStyle/>
          <a:p>
            <a:pPr marL="0" indent="0" algn="ctr">
              <a:lnSpc>
                <a:spcPts val="2004"/>
              </a:lnSpc>
              <a:buNone/>
            </a:pPr>
            <a:r>
              <a:rPr lang="en-US" sz="1542" dirty="0">
                <a:solidFill>
                  <a:srgbClr val="312F2B"/>
                </a:solidFill>
                <a:latin typeface="Georgia" pitchFamily="34" charset="0"/>
                <a:ea typeface="Georgia" pitchFamily="34" charset="-122"/>
                <a:cs typeface="Georgia" pitchFamily="34" charset="-120"/>
              </a:rPr>
              <a:t>Types of cones</a:t>
            </a:r>
            <a:endParaRPr lang="en-US" sz="1542" dirty="0"/>
          </a:p>
        </p:txBody>
      </p:sp>
      <p:sp>
        <p:nvSpPr>
          <p:cNvPr id="25" name="Text 19"/>
          <p:cNvSpPr/>
          <p:nvPr/>
        </p:nvSpPr>
        <p:spPr>
          <a:xfrm>
            <a:off x="9662279" y="6762662"/>
            <a:ext cx="4380905" cy="778680"/>
          </a:xfrm>
          <a:prstGeom prst="rect">
            <a:avLst/>
          </a:prstGeom>
          <a:noFill/>
          <a:ln/>
        </p:spPr>
        <p:txBody>
          <a:bodyPr wrap="square" rtlCol="0" anchor="t"/>
          <a:lstStyle/>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The competition aims to classify these cones </a:t>
            </a:r>
          </a:p>
          <a:p>
            <a:pPr marL="0" indent="0" algn="ctr">
              <a:lnSpc>
                <a:spcPts val="2220"/>
              </a:lnSpc>
              <a:buNone/>
            </a:pPr>
            <a:r>
              <a:rPr lang="en-US" sz="1600" dirty="0">
                <a:solidFill>
                  <a:srgbClr val="272525"/>
                </a:solidFill>
                <a:latin typeface="Lato" pitchFamily="34" charset="0"/>
                <a:ea typeface="Lato" pitchFamily="34" charset="-122"/>
                <a:cs typeface="Lato" pitchFamily="34" charset="-120"/>
              </a:rPr>
              <a:t>using Machine Learning.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942069"/>
            <a:ext cx="4443889"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Project Overview</a:t>
            </a:r>
            <a:endParaRPr lang="en-US" sz="4374" dirty="0"/>
          </a:p>
        </p:txBody>
      </p:sp>
      <p:sp>
        <p:nvSpPr>
          <p:cNvPr id="5" name="Shape 2"/>
          <p:cNvSpPr/>
          <p:nvPr/>
        </p:nvSpPr>
        <p:spPr>
          <a:xfrm>
            <a:off x="833199" y="4883961"/>
            <a:ext cx="12964001" cy="44084"/>
          </a:xfrm>
          <a:prstGeom prst="rect">
            <a:avLst/>
          </a:prstGeom>
          <a:solidFill>
            <a:srgbClr val="D1D1C7"/>
          </a:solidFill>
          <a:ln/>
        </p:spPr>
      </p:sp>
      <p:sp>
        <p:nvSpPr>
          <p:cNvPr id="6" name="Shape 3"/>
          <p:cNvSpPr/>
          <p:nvPr/>
        </p:nvSpPr>
        <p:spPr>
          <a:xfrm>
            <a:off x="3337143" y="4883961"/>
            <a:ext cx="44410" cy="771880"/>
          </a:xfrm>
          <a:prstGeom prst="rect">
            <a:avLst/>
          </a:prstGeom>
          <a:solidFill>
            <a:srgbClr val="D1D1C7"/>
          </a:solidFill>
          <a:ln/>
        </p:spPr>
      </p:sp>
      <p:sp>
        <p:nvSpPr>
          <p:cNvPr id="7" name="Shape 4"/>
          <p:cNvSpPr/>
          <p:nvPr/>
        </p:nvSpPr>
        <p:spPr>
          <a:xfrm>
            <a:off x="3109436" y="4635887"/>
            <a:ext cx="499943" cy="496267"/>
          </a:xfrm>
          <a:prstGeom prst="roundRect">
            <a:avLst>
              <a:gd name="adj" fmla="val 11055"/>
            </a:avLst>
          </a:prstGeom>
          <a:solidFill>
            <a:srgbClr val="E8E8E3"/>
          </a:solidFill>
          <a:ln w="7620">
            <a:solidFill>
              <a:srgbClr val="D1D1C7"/>
            </a:solidFill>
            <a:prstDash val="solid"/>
          </a:ln>
        </p:spPr>
      </p:sp>
      <p:sp>
        <p:nvSpPr>
          <p:cNvPr id="8" name="Text 5"/>
          <p:cNvSpPr/>
          <p:nvPr/>
        </p:nvSpPr>
        <p:spPr>
          <a:xfrm>
            <a:off x="3267908" y="4668979"/>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1</a:t>
            </a:r>
            <a:endParaRPr lang="en-US" sz="2624" dirty="0"/>
          </a:p>
        </p:txBody>
      </p:sp>
      <p:sp>
        <p:nvSpPr>
          <p:cNvPr id="9" name="Text 6"/>
          <p:cNvSpPr/>
          <p:nvPr/>
        </p:nvSpPr>
        <p:spPr>
          <a:xfrm>
            <a:off x="2248376" y="5876496"/>
            <a:ext cx="2221944" cy="358343"/>
          </a:xfrm>
          <a:prstGeom prst="rect">
            <a:avLst/>
          </a:prstGeom>
          <a:noFill/>
          <a:ln/>
        </p:spPr>
        <p:txBody>
          <a:bodyPr wrap="none" rtlCol="0" anchor="t"/>
          <a:lstStyle/>
          <a:p>
            <a:pPr marL="0" indent="0" algn="ctr">
              <a:lnSpc>
                <a:spcPts val="2843"/>
              </a:lnSpc>
              <a:buNone/>
            </a:pPr>
            <a:r>
              <a:rPr lang="en-US" sz="2187" dirty="0">
                <a:solidFill>
                  <a:srgbClr val="272525"/>
                </a:solidFill>
                <a:latin typeface="Georgia" pitchFamily="34" charset="0"/>
                <a:ea typeface="Georgia" pitchFamily="34" charset="-122"/>
                <a:cs typeface="Georgia" pitchFamily="34" charset="-120"/>
              </a:rPr>
              <a:t>Data Processing</a:t>
            </a:r>
            <a:endParaRPr lang="en-US" sz="2187" dirty="0"/>
          </a:p>
        </p:txBody>
      </p:sp>
      <p:sp>
        <p:nvSpPr>
          <p:cNvPr id="10" name="Text 7"/>
          <p:cNvSpPr/>
          <p:nvPr/>
        </p:nvSpPr>
        <p:spPr>
          <a:xfrm>
            <a:off x="1055370" y="6433275"/>
            <a:ext cx="4607957" cy="793744"/>
          </a:xfrm>
          <a:prstGeom prst="rect">
            <a:avLst/>
          </a:prstGeom>
          <a:noFill/>
          <a:ln/>
        </p:spPr>
        <p:txBody>
          <a:bodyPr wrap="square" rtlCol="0" anchor="t"/>
          <a:lstStyle/>
          <a:p>
            <a:pPr marL="0" indent="0" algn="ctr">
              <a:lnSpc>
                <a:spcPts val="3149"/>
              </a:lnSpc>
              <a:buNone/>
            </a:pPr>
            <a:r>
              <a:rPr lang="en-US" sz="1750" dirty="0">
                <a:solidFill>
                  <a:srgbClr val="272525"/>
                </a:solidFill>
                <a:latin typeface="Lato" pitchFamily="34" charset="0"/>
                <a:ea typeface="Lato" pitchFamily="34" charset="-122"/>
                <a:cs typeface="Lato" pitchFamily="34" charset="-120"/>
              </a:rPr>
              <a:t>Pre-processed the data and combined the train dataset</a:t>
            </a:r>
            <a:endParaRPr lang="en-US" sz="1750" dirty="0"/>
          </a:p>
        </p:txBody>
      </p:sp>
      <p:sp>
        <p:nvSpPr>
          <p:cNvPr id="11" name="Shape 8"/>
          <p:cNvSpPr/>
          <p:nvPr/>
        </p:nvSpPr>
        <p:spPr>
          <a:xfrm>
            <a:off x="5974378" y="4112082"/>
            <a:ext cx="44410" cy="771880"/>
          </a:xfrm>
          <a:prstGeom prst="rect">
            <a:avLst/>
          </a:prstGeom>
          <a:solidFill>
            <a:srgbClr val="D1D1C7"/>
          </a:solidFill>
          <a:ln/>
        </p:spPr>
      </p:sp>
      <p:sp>
        <p:nvSpPr>
          <p:cNvPr id="12" name="Shape 9"/>
          <p:cNvSpPr/>
          <p:nvPr/>
        </p:nvSpPr>
        <p:spPr>
          <a:xfrm>
            <a:off x="5746671" y="4635887"/>
            <a:ext cx="499943" cy="496267"/>
          </a:xfrm>
          <a:prstGeom prst="roundRect">
            <a:avLst>
              <a:gd name="adj" fmla="val 11055"/>
            </a:avLst>
          </a:prstGeom>
          <a:solidFill>
            <a:srgbClr val="E8E8E3"/>
          </a:solidFill>
          <a:ln w="7620">
            <a:solidFill>
              <a:srgbClr val="D1D1C7"/>
            </a:solidFill>
            <a:prstDash val="solid"/>
          </a:ln>
        </p:spPr>
      </p:sp>
      <p:sp>
        <p:nvSpPr>
          <p:cNvPr id="13" name="Text 10"/>
          <p:cNvSpPr/>
          <p:nvPr/>
        </p:nvSpPr>
        <p:spPr>
          <a:xfrm>
            <a:off x="5905143" y="4668979"/>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2</a:t>
            </a:r>
            <a:endParaRPr lang="en-US" sz="2624" dirty="0"/>
          </a:p>
        </p:txBody>
      </p:sp>
      <p:sp>
        <p:nvSpPr>
          <p:cNvPr id="14" name="Text 11"/>
          <p:cNvSpPr/>
          <p:nvPr/>
        </p:nvSpPr>
        <p:spPr>
          <a:xfrm>
            <a:off x="4885611" y="2540903"/>
            <a:ext cx="2221944" cy="358343"/>
          </a:xfrm>
          <a:prstGeom prst="rect">
            <a:avLst/>
          </a:prstGeom>
          <a:noFill/>
          <a:ln/>
        </p:spPr>
        <p:txBody>
          <a:bodyPr wrap="none" rtlCol="0" anchor="t"/>
          <a:lstStyle/>
          <a:p>
            <a:pPr marL="0" indent="0" algn="ctr">
              <a:lnSpc>
                <a:spcPts val="2843"/>
              </a:lnSpc>
              <a:buNone/>
            </a:pPr>
            <a:r>
              <a:rPr lang="en-US" sz="2187" dirty="0">
                <a:solidFill>
                  <a:srgbClr val="272525"/>
                </a:solidFill>
                <a:latin typeface="Georgia" pitchFamily="34" charset="0"/>
                <a:ea typeface="Georgia" pitchFamily="34" charset="-122"/>
                <a:cs typeface="Georgia" pitchFamily="34" charset="-120"/>
              </a:rPr>
              <a:t>Downsampling</a:t>
            </a:r>
            <a:endParaRPr lang="en-US" sz="2187" dirty="0"/>
          </a:p>
        </p:txBody>
      </p:sp>
      <p:sp>
        <p:nvSpPr>
          <p:cNvPr id="15" name="Text 12"/>
          <p:cNvSpPr/>
          <p:nvPr/>
        </p:nvSpPr>
        <p:spPr>
          <a:xfrm>
            <a:off x="3692604" y="3097682"/>
            <a:ext cx="4607957" cy="793744"/>
          </a:xfrm>
          <a:prstGeom prst="rect">
            <a:avLst/>
          </a:prstGeom>
          <a:noFill/>
          <a:ln/>
        </p:spPr>
        <p:txBody>
          <a:bodyPr wrap="square" rtlCol="0" anchor="t"/>
          <a:lstStyle/>
          <a:p>
            <a:pPr marL="0" indent="0" algn="ctr">
              <a:lnSpc>
                <a:spcPts val="3149"/>
              </a:lnSpc>
              <a:buNone/>
            </a:pPr>
            <a:r>
              <a:rPr lang="en-US" sz="1750" dirty="0">
                <a:solidFill>
                  <a:srgbClr val="272525"/>
                </a:solidFill>
                <a:latin typeface="Lato" pitchFamily="34" charset="0"/>
                <a:ea typeface="Lato" pitchFamily="34" charset="-122"/>
                <a:cs typeface="Lato" pitchFamily="34" charset="-120"/>
              </a:rPr>
              <a:t>Performed downsampling to address class imbalance</a:t>
            </a:r>
            <a:endParaRPr lang="en-US" sz="1750" dirty="0"/>
          </a:p>
        </p:txBody>
      </p:sp>
      <p:sp>
        <p:nvSpPr>
          <p:cNvPr id="16" name="Shape 13"/>
          <p:cNvSpPr/>
          <p:nvPr/>
        </p:nvSpPr>
        <p:spPr>
          <a:xfrm>
            <a:off x="8611612" y="4883961"/>
            <a:ext cx="44410" cy="771880"/>
          </a:xfrm>
          <a:prstGeom prst="rect">
            <a:avLst/>
          </a:prstGeom>
          <a:solidFill>
            <a:srgbClr val="D1D1C7"/>
          </a:solidFill>
          <a:ln/>
        </p:spPr>
      </p:sp>
      <p:sp>
        <p:nvSpPr>
          <p:cNvPr id="17" name="Shape 14"/>
          <p:cNvSpPr/>
          <p:nvPr/>
        </p:nvSpPr>
        <p:spPr>
          <a:xfrm>
            <a:off x="8383905" y="4635887"/>
            <a:ext cx="499943" cy="496267"/>
          </a:xfrm>
          <a:prstGeom prst="roundRect">
            <a:avLst>
              <a:gd name="adj" fmla="val 11055"/>
            </a:avLst>
          </a:prstGeom>
          <a:solidFill>
            <a:srgbClr val="E8E8E3"/>
          </a:solidFill>
          <a:ln w="7620">
            <a:solidFill>
              <a:srgbClr val="D1D1C7"/>
            </a:solidFill>
            <a:prstDash val="solid"/>
          </a:ln>
        </p:spPr>
      </p:sp>
      <p:sp>
        <p:nvSpPr>
          <p:cNvPr id="18" name="Text 15"/>
          <p:cNvSpPr/>
          <p:nvPr/>
        </p:nvSpPr>
        <p:spPr>
          <a:xfrm>
            <a:off x="8542377" y="4668979"/>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3</a:t>
            </a:r>
            <a:endParaRPr lang="en-US" sz="2624" dirty="0"/>
          </a:p>
        </p:txBody>
      </p:sp>
      <p:sp>
        <p:nvSpPr>
          <p:cNvPr id="19" name="Text 16"/>
          <p:cNvSpPr/>
          <p:nvPr/>
        </p:nvSpPr>
        <p:spPr>
          <a:xfrm>
            <a:off x="7522845" y="5876496"/>
            <a:ext cx="2221944" cy="358343"/>
          </a:xfrm>
          <a:prstGeom prst="rect">
            <a:avLst/>
          </a:prstGeom>
          <a:noFill/>
          <a:ln/>
        </p:spPr>
        <p:txBody>
          <a:bodyPr wrap="none" rtlCol="0" anchor="t"/>
          <a:lstStyle/>
          <a:p>
            <a:pPr marL="0" indent="0" algn="ctr">
              <a:lnSpc>
                <a:spcPts val="2843"/>
              </a:lnSpc>
              <a:buNone/>
            </a:pPr>
            <a:r>
              <a:rPr lang="en-US" sz="2187" dirty="0">
                <a:solidFill>
                  <a:srgbClr val="272525"/>
                </a:solidFill>
                <a:latin typeface="Georgia" pitchFamily="34" charset="0"/>
                <a:ea typeface="Georgia" pitchFamily="34" charset="-122"/>
                <a:cs typeface="Georgia" pitchFamily="34" charset="-120"/>
              </a:rPr>
              <a:t>Model Building</a:t>
            </a:r>
            <a:endParaRPr lang="en-US" sz="2187" dirty="0"/>
          </a:p>
        </p:txBody>
      </p:sp>
      <p:sp>
        <p:nvSpPr>
          <p:cNvPr id="20" name="Text 17"/>
          <p:cNvSpPr/>
          <p:nvPr/>
        </p:nvSpPr>
        <p:spPr>
          <a:xfrm>
            <a:off x="6329839" y="6433275"/>
            <a:ext cx="4607957" cy="793744"/>
          </a:xfrm>
          <a:prstGeom prst="rect">
            <a:avLst/>
          </a:prstGeom>
          <a:noFill/>
          <a:ln/>
        </p:spPr>
        <p:txBody>
          <a:bodyPr wrap="square" rtlCol="0" anchor="t"/>
          <a:lstStyle/>
          <a:p>
            <a:pPr marL="0" indent="0" algn="ctr">
              <a:lnSpc>
                <a:spcPts val="3149"/>
              </a:lnSpc>
              <a:buNone/>
            </a:pPr>
            <a:r>
              <a:rPr lang="en-US" sz="1750" dirty="0">
                <a:solidFill>
                  <a:srgbClr val="272525"/>
                </a:solidFill>
                <a:latin typeface="Lato" pitchFamily="34" charset="0"/>
                <a:ea typeface="Lato" pitchFamily="34" charset="-122"/>
                <a:cs typeface="Lato" pitchFamily="34" charset="-120"/>
              </a:rPr>
              <a:t>Built SVM and Random Forest models for both ResNet34 and EfficientNet datasets</a:t>
            </a:r>
            <a:endParaRPr lang="en-US" sz="1750" dirty="0"/>
          </a:p>
        </p:txBody>
      </p:sp>
      <p:sp>
        <p:nvSpPr>
          <p:cNvPr id="21" name="Shape 18"/>
          <p:cNvSpPr/>
          <p:nvPr/>
        </p:nvSpPr>
        <p:spPr>
          <a:xfrm>
            <a:off x="11248846" y="4112082"/>
            <a:ext cx="44410" cy="771880"/>
          </a:xfrm>
          <a:prstGeom prst="rect">
            <a:avLst/>
          </a:prstGeom>
          <a:solidFill>
            <a:srgbClr val="D1D1C7"/>
          </a:solidFill>
          <a:ln/>
        </p:spPr>
      </p:sp>
      <p:sp>
        <p:nvSpPr>
          <p:cNvPr id="22" name="Shape 19"/>
          <p:cNvSpPr/>
          <p:nvPr/>
        </p:nvSpPr>
        <p:spPr>
          <a:xfrm>
            <a:off x="11021139" y="4635887"/>
            <a:ext cx="499943" cy="496267"/>
          </a:xfrm>
          <a:prstGeom prst="roundRect">
            <a:avLst>
              <a:gd name="adj" fmla="val 11055"/>
            </a:avLst>
          </a:prstGeom>
          <a:solidFill>
            <a:srgbClr val="E8E8E3"/>
          </a:solidFill>
          <a:ln w="7620">
            <a:solidFill>
              <a:srgbClr val="D1D1C7"/>
            </a:solidFill>
            <a:prstDash val="solid"/>
          </a:ln>
        </p:spPr>
      </p:sp>
      <p:sp>
        <p:nvSpPr>
          <p:cNvPr id="23" name="Text 20"/>
          <p:cNvSpPr/>
          <p:nvPr/>
        </p:nvSpPr>
        <p:spPr>
          <a:xfrm>
            <a:off x="11179612" y="4668979"/>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4</a:t>
            </a:r>
            <a:endParaRPr lang="en-US" sz="2624" dirty="0"/>
          </a:p>
        </p:txBody>
      </p:sp>
      <p:sp>
        <p:nvSpPr>
          <p:cNvPr id="24" name="Text 21"/>
          <p:cNvSpPr/>
          <p:nvPr/>
        </p:nvSpPr>
        <p:spPr>
          <a:xfrm>
            <a:off x="9598462" y="2144031"/>
            <a:ext cx="3345180" cy="358343"/>
          </a:xfrm>
          <a:prstGeom prst="rect">
            <a:avLst/>
          </a:prstGeom>
          <a:noFill/>
          <a:ln/>
        </p:spPr>
        <p:txBody>
          <a:bodyPr wrap="none" rtlCol="0" anchor="t"/>
          <a:lstStyle/>
          <a:p>
            <a:pPr marL="0" indent="0" algn="ctr">
              <a:lnSpc>
                <a:spcPts val="2843"/>
              </a:lnSpc>
              <a:buNone/>
            </a:pPr>
            <a:r>
              <a:rPr lang="en-US" sz="2187" dirty="0">
                <a:solidFill>
                  <a:srgbClr val="272525"/>
                </a:solidFill>
                <a:latin typeface="Georgia" pitchFamily="34" charset="0"/>
                <a:ea typeface="Georgia" pitchFamily="34" charset="-122"/>
                <a:cs typeface="Georgia" pitchFamily="34" charset="-120"/>
              </a:rPr>
              <a:t>Dimensionality Reduction</a:t>
            </a:r>
            <a:endParaRPr lang="en-US" sz="2187" dirty="0"/>
          </a:p>
        </p:txBody>
      </p:sp>
      <p:sp>
        <p:nvSpPr>
          <p:cNvPr id="25" name="Text 22"/>
          <p:cNvSpPr/>
          <p:nvPr/>
        </p:nvSpPr>
        <p:spPr>
          <a:xfrm>
            <a:off x="8967073" y="2700810"/>
            <a:ext cx="4607957" cy="1190616"/>
          </a:xfrm>
          <a:prstGeom prst="rect">
            <a:avLst/>
          </a:prstGeom>
          <a:noFill/>
          <a:ln/>
        </p:spPr>
        <p:txBody>
          <a:bodyPr wrap="square" rtlCol="0" anchor="t"/>
          <a:lstStyle/>
          <a:p>
            <a:pPr marL="0" indent="0" algn="ctr">
              <a:lnSpc>
                <a:spcPts val="3149"/>
              </a:lnSpc>
              <a:buNone/>
            </a:pPr>
            <a:r>
              <a:rPr lang="en-US" sz="1750" dirty="0">
                <a:solidFill>
                  <a:srgbClr val="272525"/>
                </a:solidFill>
                <a:latin typeface="Lato" pitchFamily="34" charset="0"/>
                <a:ea typeface="Lato" pitchFamily="34" charset="-122"/>
                <a:cs typeface="Lato" pitchFamily="34" charset="-120"/>
              </a:rPr>
              <a:t>Performed PCA for dimensionality reduction and used latent components as features in the SVM model</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1278666"/>
            <a:ext cx="5143500"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Data Pre-processing</a:t>
            </a:r>
            <a:endParaRPr lang="en-US" sz="4374" dirty="0"/>
          </a:p>
        </p:txBody>
      </p:sp>
      <p:sp>
        <p:nvSpPr>
          <p:cNvPr id="5" name="Text 2"/>
          <p:cNvSpPr/>
          <p:nvPr/>
        </p:nvSpPr>
        <p:spPr>
          <a:xfrm>
            <a:off x="1188601" y="2480628"/>
            <a:ext cx="12608600" cy="793744"/>
          </a:xfrm>
          <a:prstGeom prst="rect">
            <a:avLst/>
          </a:prstGeom>
          <a:noFill/>
          <a:ln/>
        </p:spPr>
        <p:txBody>
          <a:bodyPr wrap="square" rtlCol="0" anchor="t"/>
          <a:lstStyle/>
          <a:p>
            <a:pPr marL="285750" indent="-285750" algn="l">
              <a:lnSpc>
                <a:spcPts val="3149"/>
              </a:lnSpc>
              <a:buSzPct val="100000"/>
              <a:buFont typeface="Wingdings" panose="05000000000000000000" pitchFamily="2" charset="2"/>
              <a:buChar char="ü"/>
            </a:pPr>
            <a:r>
              <a:rPr lang="en-US" sz="1750" dirty="0">
                <a:solidFill>
                  <a:srgbClr val="272525"/>
                </a:solidFill>
                <a:latin typeface="Lato" pitchFamily="34" charset="0"/>
                <a:ea typeface="Lato" pitchFamily="34" charset="-122"/>
                <a:cs typeface="Lato" pitchFamily="34" charset="-120"/>
              </a:rPr>
              <a:t>Imported necessary libraries: numpy and pandas. These libraries are commonly used in data analysis and manipulation tasks in Python.</a:t>
            </a:r>
            <a:endParaRPr lang="en-US" sz="1750" dirty="0"/>
          </a:p>
        </p:txBody>
      </p:sp>
      <p:sp>
        <p:nvSpPr>
          <p:cNvPr id="6" name="Text 3"/>
          <p:cNvSpPr/>
          <p:nvPr/>
        </p:nvSpPr>
        <p:spPr>
          <a:xfrm>
            <a:off x="1188601" y="3384640"/>
            <a:ext cx="12608600" cy="793744"/>
          </a:xfrm>
          <a:prstGeom prst="rect">
            <a:avLst/>
          </a:prstGeom>
          <a:noFill/>
          <a:ln/>
        </p:spPr>
        <p:txBody>
          <a:bodyPr wrap="square" rtlCol="0" anchor="t"/>
          <a:lstStyle/>
          <a:p>
            <a:pPr marL="285750" indent="-285750" algn="l">
              <a:lnSpc>
                <a:spcPts val="3149"/>
              </a:lnSpc>
              <a:buSzPct val="100000"/>
              <a:buFont typeface="Wingdings" panose="05000000000000000000" pitchFamily="2" charset="2"/>
              <a:buChar char="ü"/>
            </a:pPr>
            <a:r>
              <a:rPr lang="en-US" sz="1750" dirty="0">
                <a:solidFill>
                  <a:srgbClr val="272525"/>
                </a:solidFill>
                <a:latin typeface="Lato" pitchFamily="34" charset="0"/>
                <a:ea typeface="Lato" pitchFamily="34" charset="-122"/>
                <a:cs typeface="Lato" pitchFamily="34" charset="-120"/>
              </a:rPr>
              <a:t>Combined the train dataset into one single dataset using concatenation. Concatenation is the process of combining two or more datasets together along a particular axis. This step is necessary to prepare the data for machine learning tasks.</a:t>
            </a:r>
            <a:endParaRPr lang="en-US" sz="1750" dirty="0"/>
          </a:p>
        </p:txBody>
      </p:sp>
      <p:sp>
        <p:nvSpPr>
          <p:cNvPr id="7" name="Text 4"/>
          <p:cNvSpPr/>
          <p:nvPr/>
        </p:nvSpPr>
        <p:spPr>
          <a:xfrm>
            <a:off x="1188601" y="4288653"/>
            <a:ext cx="12608600" cy="793744"/>
          </a:xfrm>
          <a:prstGeom prst="rect">
            <a:avLst/>
          </a:prstGeom>
          <a:noFill/>
          <a:ln/>
        </p:spPr>
        <p:txBody>
          <a:bodyPr wrap="square" rtlCol="0" anchor="t"/>
          <a:lstStyle/>
          <a:p>
            <a:pPr marL="285750" indent="-285750" algn="l">
              <a:lnSpc>
                <a:spcPts val="3149"/>
              </a:lnSpc>
              <a:buSzPct val="100000"/>
              <a:buFont typeface="Wingdings" panose="05000000000000000000" pitchFamily="2" charset="2"/>
              <a:buChar char="ü"/>
            </a:pPr>
            <a:r>
              <a:rPr lang="en-US" sz="1750" dirty="0">
                <a:solidFill>
                  <a:srgbClr val="272525"/>
                </a:solidFill>
                <a:latin typeface="Lato" pitchFamily="34" charset="0"/>
                <a:ea typeface="Lato" pitchFamily="34" charset="-122"/>
                <a:cs typeface="Lato" pitchFamily="34" charset="-120"/>
              </a:rPr>
              <a:t>Dropped unwanted columns, including Unnamed: 0, images, and cone_name. These columns are not important for the analysis and dropping them can reduce the amount of memory needed to store the dataset.</a:t>
            </a:r>
            <a:endParaRPr lang="en-US" sz="1750" dirty="0"/>
          </a:p>
        </p:txBody>
      </p:sp>
      <p:sp>
        <p:nvSpPr>
          <p:cNvPr id="8" name="Text 5"/>
          <p:cNvSpPr/>
          <p:nvPr/>
        </p:nvSpPr>
        <p:spPr>
          <a:xfrm>
            <a:off x="1188601" y="5192666"/>
            <a:ext cx="12608600" cy="793744"/>
          </a:xfrm>
          <a:prstGeom prst="rect">
            <a:avLst/>
          </a:prstGeom>
          <a:noFill/>
          <a:ln/>
        </p:spPr>
        <p:txBody>
          <a:bodyPr wrap="square" rtlCol="0" anchor="t"/>
          <a:lstStyle/>
          <a:p>
            <a:pPr marL="285750" indent="-285750" algn="l">
              <a:lnSpc>
                <a:spcPts val="3149"/>
              </a:lnSpc>
              <a:buSzPct val="100000"/>
              <a:buFont typeface="Wingdings" panose="05000000000000000000" pitchFamily="2" charset="2"/>
              <a:buChar char="ü"/>
            </a:pPr>
            <a:r>
              <a:rPr lang="en-US" sz="1750" dirty="0">
                <a:solidFill>
                  <a:srgbClr val="272525"/>
                </a:solidFill>
                <a:latin typeface="Lato" pitchFamily="34" charset="0"/>
                <a:ea typeface="Lato" pitchFamily="34" charset="-122"/>
                <a:cs typeface="Lato" pitchFamily="34" charset="-120"/>
              </a:rPr>
              <a:t>Checked for the presence of duplicate values and found none. Duplicate values can skew the analysis results and should be removed if present.</a:t>
            </a:r>
            <a:endParaRPr lang="en-US" sz="1750" dirty="0"/>
          </a:p>
        </p:txBody>
      </p:sp>
      <p:sp>
        <p:nvSpPr>
          <p:cNvPr id="9" name="Text 6"/>
          <p:cNvSpPr/>
          <p:nvPr/>
        </p:nvSpPr>
        <p:spPr>
          <a:xfrm>
            <a:off x="1188601" y="6096678"/>
            <a:ext cx="12608600" cy="793744"/>
          </a:xfrm>
          <a:prstGeom prst="rect">
            <a:avLst/>
          </a:prstGeom>
          <a:noFill/>
          <a:ln/>
        </p:spPr>
        <p:txBody>
          <a:bodyPr wrap="square" rtlCol="0" anchor="t"/>
          <a:lstStyle/>
          <a:p>
            <a:pPr marL="285750" indent="-285750" algn="l">
              <a:lnSpc>
                <a:spcPts val="3149"/>
              </a:lnSpc>
              <a:buSzPct val="100000"/>
              <a:buFont typeface="Wingdings" panose="05000000000000000000" pitchFamily="2" charset="2"/>
              <a:buChar char="ü"/>
            </a:pPr>
            <a:r>
              <a:rPr lang="en-US" sz="1750" dirty="0">
                <a:solidFill>
                  <a:srgbClr val="272525"/>
                </a:solidFill>
                <a:latin typeface="Lato" pitchFamily="34" charset="0"/>
                <a:ea typeface="Lato" pitchFamily="34" charset="-122"/>
                <a:cs typeface="Lato" pitchFamily="34" charset="-120"/>
              </a:rPr>
              <a:t>Checked for the presence of missing values and found none. Missing values can cause errors in the analysis and need to be handled carefully. Visualizing the absence of missing values can provide reassurance that the data is complete.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7" y="1066458"/>
            <a:ext cx="3555087" cy="573325"/>
          </a:xfrm>
          <a:prstGeom prst="rect">
            <a:avLst/>
          </a:prstGeom>
          <a:noFill/>
          <a:ln/>
        </p:spPr>
        <p:txBody>
          <a:bodyPr wrap="none" rtlCol="0" anchor="t"/>
          <a:lstStyle/>
          <a:p>
            <a:pPr marL="0" indent="0">
              <a:lnSpc>
                <a:spcPts val="4549"/>
              </a:lnSpc>
              <a:buNone/>
            </a:pPr>
            <a:r>
              <a:rPr lang="en-US" sz="3499" dirty="0">
                <a:solidFill>
                  <a:srgbClr val="312F2B"/>
                </a:solidFill>
                <a:latin typeface="Georgia" pitchFamily="34" charset="0"/>
                <a:ea typeface="Georgia" pitchFamily="34" charset="-122"/>
                <a:cs typeface="Georgia" pitchFamily="34" charset="-120"/>
              </a:rPr>
              <a:t>Class Imbalance</a:t>
            </a:r>
            <a:endParaRPr lang="en-US" sz="3499" dirty="0"/>
          </a:p>
        </p:txBody>
      </p:sp>
      <p:sp>
        <p:nvSpPr>
          <p:cNvPr id="5" name="Text 2"/>
          <p:cNvSpPr/>
          <p:nvPr/>
        </p:nvSpPr>
        <p:spPr>
          <a:xfrm>
            <a:off x="833197" y="1872642"/>
            <a:ext cx="7177328" cy="1594457"/>
          </a:xfrm>
          <a:prstGeom prst="rect">
            <a:avLst/>
          </a:prstGeom>
          <a:noFill/>
          <a:ln/>
        </p:spPr>
        <p:txBody>
          <a:bodyPr wrap="square" rtlCol="0" anchor="t"/>
          <a:lstStyle/>
          <a:p>
            <a:pPr marL="285750" indent="-285750">
              <a:lnSpc>
                <a:spcPts val="3149"/>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Our dataset consists of samples from four different cone classes: Big Orange Cones, Blue Cones, Little Orange Cones, and Yellow Cones. However, the class distribution is highly imbalanced, with a majority of samples belonging to the Blue Cones class.</a:t>
            </a:r>
            <a:endParaRPr lang="en-US" sz="1750" dirty="0"/>
          </a:p>
        </p:txBody>
      </p:sp>
      <p:sp>
        <p:nvSpPr>
          <p:cNvPr id="6" name="Text 3"/>
          <p:cNvSpPr/>
          <p:nvPr/>
        </p:nvSpPr>
        <p:spPr>
          <a:xfrm>
            <a:off x="833197" y="3598936"/>
            <a:ext cx="7177327" cy="2725145"/>
          </a:xfrm>
          <a:prstGeom prst="rect">
            <a:avLst/>
          </a:prstGeom>
          <a:noFill/>
          <a:ln/>
        </p:spPr>
        <p:txBody>
          <a:bodyPr wrap="square" rtlCol="0" anchor="t"/>
          <a:lstStyle/>
          <a:p>
            <a:pPr marL="285750" indent="-285750">
              <a:lnSpc>
                <a:spcPts val="3149"/>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Addressing class imbalance is important for machine learning models to accurately predict the minority classes. To achieve this, we applied a downsampling technique to balance the class distribution. This technique involved randomly removing samples from the Blue Cones class until the number of samples in each class was equal to the number of samples in the class with the minimum entries.</a:t>
            </a:r>
            <a:endParaRPr lang="en-US" sz="1750" dirty="0"/>
          </a:p>
        </p:txBody>
      </p:sp>
      <p:sp>
        <p:nvSpPr>
          <p:cNvPr id="7" name="Text 4"/>
          <p:cNvSpPr/>
          <p:nvPr/>
        </p:nvSpPr>
        <p:spPr>
          <a:xfrm>
            <a:off x="833198" y="6324081"/>
            <a:ext cx="7177326" cy="1241595"/>
          </a:xfrm>
          <a:prstGeom prst="rect">
            <a:avLst/>
          </a:prstGeom>
          <a:noFill/>
          <a:ln/>
        </p:spPr>
        <p:txBody>
          <a:bodyPr wrap="square" rtlCol="0" anchor="t"/>
          <a:lstStyle/>
          <a:p>
            <a:pPr marL="285750" indent="-285750">
              <a:lnSpc>
                <a:spcPts val="3149"/>
              </a:lnSpc>
              <a:buFont typeface="Wingdings" panose="05000000000000000000" pitchFamily="2" charset="2"/>
              <a:buChar char="Ø"/>
            </a:pPr>
            <a:r>
              <a:rPr lang="en-US" sz="1750" dirty="0">
                <a:solidFill>
                  <a:srgbClr val="272525"/>
                </a:solidFill>
                <a:latin typeface="Lato" pitchFamily="34" charset="0"/>
                <a:ea typeface="Lato" pitchFamily="34" charset="-122"/>
                <a:cs typeface="Lato" pitchFamily="34" charset="-120"/>
              </a:rPr>
              <a:t>The downsampling technique resulted in a new dataset with an equal number of samples for each class, resulting in a better representation of the entire dataset.</a:t>
            </a:r>
            <a:endParaRPr lang="en-US" sz="1750" dirty="0"/>
          </a:p>
        </p:txBody>
      </p:sp>
      <p:pic>
        <p:nvPicPr>
          <p:cNvPr id="9" name="Picture 8" descr="A red and blue dots&#10;&#10;Description automatically generated">
            <a:extLst>
              <a:ext uri="{FF2B5EF4-FFF2-40B4-BE49-F238E27FC236}">
                <a16:creationId xmlns:a16="http://schemas.microsoft.com/office/drawing/2014/main" id="{58F8FF89-1C73-F592-F120-7D286F64E9D4}"/>
              </a:ext>
            </a:extLst>
          </p:cNvPr>
          <p:cNvPicPr>
            <a:picLocks noChangeAspect="1"/>
          </p:cNvPicPr>
          <p:nvPr/>
        </p:nvPicPr>
        <p:blipFill>
          <a:blip r:embed="rId4"/>
          <a:stretch>
            <a:fillRect/>
          </a:stretch>
        </p:blipFill>
        <p:spPr>
          <a:xfrm>
            <a:off x="8258175" y="1872642"/>
            <a:ext cx="5734050" cy="56930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1368133"/>
            <a:ext cx="5105400"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EfficientNet Dataset</a:t>
            </a:r>
            <a:endParaRPr lang="en-US" sz="4374" dirty="0"/>
          </a:p>
        </p:txBody>
      </p:sp>
      <p:sp>
        <p:nvSpPr>
          <p:cNvPr id="5" name="Shape 2"/>
          <p:cNvSpPr/>
          <p:nvPr/>
        </p:nvSpPr>
        <p:spPr>
          <a:xfrm>
            <a:off x="1542424" y="2360182"/>
            <a:ext cx="4173260" cy="2600469"/>
          </a:xfrm>
          <a:prstGeom prst="roundRect">
            <a:avLst>
              <a:gd name="adj" fmla="val 2110"/>
            </a:avLst>
          </a:prstGeom>
          <a:solidFill>
            <a:srgbClr val="E8E8E3"/>
          </a:solidFill>
          <a:ln w="7620">
            <a:solidFill>
              <a:srgbClr val="D1D1C7"/>
            </a:solidFill>
            <a:prstDash val="solid"/>
          </a:ln>
        </p:spPr>
      </p:sp>
      <p:sp>
        <p:nvSpPr>
          <p:cNvPr id="6" name="Text 3"/>
          <p:cNvSpPr/>
          <p:nvPr/>
        </p:nvSpPr>
        <p:spPr>
          <a:xfrm>
            <a:off x="2152591" y="2734734"/>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Data Processing</a:t>
            </a:r>
            <a:endParaRPr lang="en-US" sz="2187" dirty="0"/>
          </a:p>
        </p:txBody>
      </p:sp>
      <p:sp>
        <p:nvSpPr>
          <p:cNvPr id="7" name="Text 4"/>
          <p:cNvSpPr/>
          <p:nvPr/>
        </p:nvSpPr>
        <p:spPr>
          <a:xfrm>
            <a:off x="2080974" y="3263551"/>
            <a:ext cx="3713678" cy="1190616"/>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Imported necessary libraries like numpy, pandas, and performed multi-class categorical classification.</a:t>
            </a:r>
            <a:endParaRPr lang="en-US" sz="1750" dirty="0"/>
          </a:p>
        </p:txBody>
      </p:sp>
      <p:sp>
        <p:nvSpPr>
          <p:cNvPr id="8" name="Shape 5"/>
          <p:cNvSpPr/>
          <p:nvPr/>
        </p:nvSpPr>
        <p:spPr>
          <a:xfrm>
            <a:off x="6896160" y="2360182"/>
            <a:ext cx="4173260" cy="2600469"/>
          </a:xfrm>
          <a:prstGeom prst="roundRect">
            <a:avLst>
              <a:gd name="adj" fmla="val 2110"/>
            </a:avLst>
          </a:prstGeom>
          <a:solidFill>
            <a:srgbClr val="E8E8E3"/>
          </a:solidFill>
          <a:ln w="7620">
            <a:solidFill>
              <a:srgbClr val="D1D1C7"/>
            </a:solidFill>
            <a:prstDash val="solid"/>
          </a:ln>
        </p:spPr>
      </p:sp>
      <p:sp>
        <p:nvSpPr>
          <p:cNvPr id="9" name="Text 6"/>
          <p:cNvSpPr/>
          <p:nvPr/>
        </p:nvSpPr>
        <p:spPr>
          <a:xfrm>
            <a:off x="7258108" y="2675886"/>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Downsampling</a:t>
            </a:r>
            <a:endParaRPr lang="en-US" sz="2187" dirty="0"/>
          </a:p>
        </p:txBody>
      </p:sp>
      <p:sp>
        <p:nvSpPr>
          <p:cNvPr id="10" name="Text 7"/>
          <p:cNvSpPr/>
          <p:nvPr/>
        </p:nvSpPr>
        <p:spPr>
          <a:xfrm>
            <a:off x="7247572" y="3065115"/>
            <a:ext cx="3713678" cy="1587488"/>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Checked the presence of duplicate and missing values. Checked the distribution of different classes and performed downsampling.</a:t>
            </a:r>
            <a:endParaRPr lang="en-US" sz="1750" dirty="0"/>
          </a:p>
        </p:txBody>
      </p:sp>
      <p:sp>
        <p:nvSpPr>
          <p:cNvPr id="11" name="Shape 8"/>
          <p:cNvSpPr/>
          <p:nvPr/>
        </p:nvSpPr>
        <p:spPr>
          <a:xfrm>
            <a:off x="1542424" y="5223949"/>
            <a:ext cx="4173260" cy="2600469"/>
          </a:xfrm>
          <a:prstGeom prst="roundRect">
            <a:avLst>
              <a:gd name="adj" fmla="val 2110"/>
            </a:avLst>
          </a:prstGeom>
          <a:solidFill>
            <a:srgbClr val="E8E8E3"/>
          </a:solidFill>
          <a:ln w="7620">
            <a:solidFill>
              <a:srgbClr val="D1D1C7"/>
            </a:solidFill>
            <a:prstDash val="solid"/>
          </a:ln>
        </p:spPr>
      </p:sp>
      <p:sp>
        <p:nvSpPr>
          <p:cNvPr id="12" name="Text 9"/>
          <p:cNvSpPr/>
          <p:nvPr/>
        </p:nvSpPr>
        <p:spPr>
          <a:xfrm>
            <a:off x="2152591" y="5453609"/>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Model Building</a:t>
            </a:r>
            <a:endParaRPr lang="en-US" sz="2187" dirty="0"/>
          </a:p>
        </p:txBody>
      </p:sp>
      <p:sp>
        <p:nvSpPr>
          <p:cNvPr id="13" name="Text 10"/>
          <p:cNvSpPr/>
          <p:nvPr/>
        </p:nvSpPr>
        <p:spPr>
          <a:xfrm>
            <a:off x="2080974" y="5993333"/>
            <a:ext cx="3713678" cy="1587488"/>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Built Random Forest and Support Vector Machine (SVM) models and checked their performance on the test dataset.</a:t>
            </a:r>
            <a:endParaRPr lang="en-US" sz="1750" dirty="0"/>
          </a:p>
        </p:txBody>
      </p:sp>
      <p:sp>
        <p:nvSpPr>
          <p:cNvPr id="14" name="Shape 11"/>
          <p:cNvSpPr/>
          <p:nvPr/>
        </p:nvSpPr>
        <p:spPr>
          <a:xfrm>
            <a:off x="6828088" y="5223949"/>
            <a:ext cx="4241332" cy="2600469"/>
          </a:xfrm>
          <a:prstGeom prst="roundRect">
            <a:avLst>
              <a:gd name="adj" fmla="val 3891"/>
            </a:avLst>
          </a:prstGeom>
          <a:solidFill>
            <a:srgbClr val="E8E8E3"/>
          </a:solidFill>
          <a:ln w="7620">
            <a:solidFill>
              <a:srgbClr val="D1D1C7"/>
            </a:solidFill>
            <a:prstDash val="solid"/>
          </a:ln>
        </p:spPr>
      </p:sp>
      <p:sp>
        <p:nvSpPr>
          <p:cNvPr id="15" name="Text 12"/>
          <p:cNvSpPr/>
          <p:nvPr/>
        </p:nvSpPr>
        <p:spPr>
          <a:xfrm>
            <a:off x="7258108" y="5429496"/>
            <a:ext cx="3345180"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Dimensionality Reduction</a:t>
            </a:r>
            <a:endParaRPr lang="en-US" sz="2187" dirty="0"/>
          </a:p>
        </p:txBody>
      </p:sp>
      <p:sp>
        <p:nvSpPr>
          <p:cNvPr id="16" name="Text 13"/>
          <p:cNvSpPr/>
          <p:nvPr/>
        </p:nvSpPr>
        <p:spPr>
          <a:xfrm>
            <a:off x="7254655" y="5942682"/>
            <a:ext cx="4318636" cy="1599161"/>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Performed PCA for dimensionality </a:t>
            </a:r>
          </a:p>
          <a:p>
            <a:pPr marL="0" indent="0">
              <a:lnSpc>
                <a:spcPts val="3149"/>
              </a:lnSpc>
              <a:buNone/>
            </a:pPr>
            <a:r>
              <a:rPr lang="en-US" sz="1750" dirty="0">
                <a:solidFill>
                  <a:srgbClr val="272525"/>
                </a:solidFill>
                <a:latin typeface="Lato" pitchFamily="34" charset="0"/>
                <a:ea typeface="Lato" pitchFamily="34" charset="-122"/>
                <a:cs typeface="Lato" pitchFamily="34" charset="-120"/>
              </a:rPr>
              <a:t>reduction and used the latent </a:t>
            </a:r>
          </a:p>
          <a:p>
            <a:pPr marL="0" indent="0">
              <a:lnSpc>
                <a:spcPts val="3149"/>
              </a:lnSpc>
              <a:buNone/>
            </a:pPr>
            <a:r>
              <a:rPr lang="en-US" sz="1750" dirty="0">
                <a:solidFill>
                  <a:srgbClr val="272525"/>
                </a:solidFill>
                <a:latin typeface="Lato" pitchFamily="34" charset="0"/>
                <a:ea typeface="Lato" pitchFamily="34" charset="-122"/>
                <a:cs typeface="Lato" pitchFamily="34" charset="-120"/>
              </a:rPr>
              <a:t>component as a feature in the </a:t>
            </a:r>
          </a:p>
          <a:p>
            <a:pPr marL="0" indent="0">
              <a:lnSpc>
                <a:spcPts val="3149"/>
              </a:lnSpc>
              <a:buNone/>
            </a:pPr>
            <a:r>
              <a:rPr lang="en-US" sz="1750" dirty="0">
                <a:solidFill>
                  <a:srgbClr val="272525"/>
                </a:solidFill>
                <a:latin typeface="Lato" pitchFamily="34" charset="0"/>
                <a:ea typeface="Lato" pitchFamily="34" charset="-122"/>
                <a:cs typeface="Lato" pitchFamily="34" charset="-120"/>
              </a:rPr>
              <a:t>SVM model.</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pic>
        <p:nvPicPr>
          <p:cNvPr id="4" name="Image 1" descr="preencoded.png"/>
          <p:cNvPicPr>
            <a:picLocks noChangeAspect="1"/>
          </p:cNvPicPr>
          <p:nvPr/>
        </p:nvPicPr>
        <p:blipFill>
          <a:blip r:embed="rId4"/>
          <a:stretch>
            <a:fillRect/>
          </a:stretch>
        </p:blipFill>
        <p:spPr>
          <a:xfrm>
            <a:off x="833199" y="1535819"/>
            <a:ext cx="6211014" cy="2359906"/>
          </a:xfrm>
          <a:prstGeom prst="rect">
            <a:avLst/>
          </a:prstGeom>
        </p:spPr>
      </p:pic>
      <p:sp>
        <p:nvSpPr>
          <p:cNvPr id="5" name="Text 1"/>
          <p:cNvSpPr/>
          <p:nvPr/>
        </p:nvSpPr>
        <p:spPr>
          <a:xfrm>
            <a:off x="833199" y="4153802"/>
            <a:ext cx="3307080" cy="358343"/>
          </a:xfrm>
          <a:prstGeom prst="rect">
            <a:avLst/>
          </a:prstGeom>
          <a:noFill/>
          <a:ln/>
        </p:spPr>
        <p:txBody>
          <a:bodyPr wrap="none" rtlCol="0" anchor="t"/>
          <a:lstStyle/>
          <a:p>
            <a:pPr marL="0" indent="0">
              <a:lnSpc>
                <a:spcPts val="2843"/>
              </a:lnSpc>
              <a:buNone/>
            </a:pPr>
            <a:r>
              <a:rPr lang="en-US" sz="2187" dirty="0">
                <a:solidFill>
                  <a:srgbClr val="312F2B"/>
                </a:solidFill>
                <a:latin typeface="Georgia" pitchFamily="34" charset="0"/>
                <a:ea typeface="Georgia" pitchFamily="34" charset="-122"/>
                <a:cs typeface="Georgia" pitchFamily="34" charset="-120"/>
              </a:rPr>
              <a:t>Random Forest</a:t>
            </a:r>
            <a:endParaRPr lang="en-US" sz="2187" dirty="0"/>
          </a:p>
        </p:txBody>
      </p:sp>
      <p:sp>
        <p:nvSpPr>
          <p:cNvPr id="6" name="Text 2"/>
          <p:cNvSpPr/>
          <p:nvPr/>
        </p:nvSpPr>
        <p:spPr>
          <a:xfrm>
            <a:off x="796499" y="4703253"/>
            <a:ext cx="6203396" cy="3352800"/>
          </a:xfrm>
          <a:prstGeom prst="rect">
            <a:avLst/>
          </a:prstGeom>
          <a:noFill/>
          <a:ln/>
        </p:spPr>
        <p:txBody>
          <a:bodyPr wrap="none" rtlCol="0" anchor="t"/>
          <a:lstStyle/>
          <a:p>
            <a:pPr marL="0" indent="0">
              <a:lnSpc>
                <a:spcPts val="3149"/>
              </a:lnSpc>
              <a:buNone/>
            </a:pPr>
            <a:r>
              <a:rPr lang="en-GB" sz="1750" dirty="0">
                <a:solidFill>
                  <a:srgbClr val="272525"/>
                </a:solidFill>
                <a:latin typeface="Lato" pitchFamily="34" charset="0"/>
                <a:ea typeface="Lato" pitchFamily="34" charset="-122"/>
                <a:cs typeface="Lato" pitchFamily="34" charset="-120"/>
              </a:rPr>
              <a:t>The Random Forest model is an ensemble learning technique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that combines multiple decision trees to make predictions.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It is known for its robustness, versatility, and ability to handle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large datasets with high dimensionality. By aggregating the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predictions of individual trees, it produces more accurate and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stable results while also providing insights into feature </a:t>
            </a:r>
          </a:p>
          <a:p>
            <a:pPr marL="0" indent="0">
              <a:lnSpc>
                <a:spcPts val="3149"/>
              </a:lnSpc>
              <a:buNone/>
            </a:pPr>
            <a:r>
              <a:rPr lang="en-GB" sz="1750" dirty="0">
                <a:solidFill>
                  <a:srgbClr val="272525"/>
                </a:solidFill>
                <a:latin typeface="Lato" pitchFamily="34" charset="0"/>
                <a:ea typeface="Lato" pitchFamily="34" charset="-122"/>
                <a:cs typeface="Lato" pitchFamily="34" charset="-120"/>
              </a:rPr>
              <a:t>importance.</a:t>
            </a:r>
            <a:endParaRPr lang="en-US" sz="1750" dirty="0"/>
          </a:p>
        </p:txBody>
      </p:sp>
      <p:pic>
        <p:nvPicPr>
          <p:cNvPr id="7" name="Image 2" descr="preencoded.png"/>
          <p:cNvPicPr>
            <a:picLocks noChangeAspect="1"/>
          </p:cNvPicPr>
          <p:nvPr/>
        </p:nvPicPr>
        <p:blipFill>
          <a:blip r:embed="rId5"/>
          <a:stretch>
            <a:fillRect/>
          </a:stretch>
        </p:blipFill>
        <p:spPr>
          <a:xfrm>
            <a:off x="7586187" y="1549314"/>
            <a:ext cx="6211014" cy="2962831"/>
          </a:xfrm>
          <a:prstGeom prst="rect">
            <a:avLst/>
          </a:prstGeom>
        </p:spPr>
      </p:pic>
      <p:sp>
        <p:nvSpPr>
          <p:cNvPr id="8" name="Text 3"/>
          <p:cNvSpPr/>
          <p:nvPr/>
        </p:nvSpPr>
        <p:spPr>
          <a:xfrm>
            <a:off x="7582734" y="4703253"/>
            <a:ext cx="3108960" cy="358343"/>
          </a:xfrm>
          <a:prstGeom prst="rect">
            <a:avLst/>
          </a:prstGeom>
          <a:noFill/>
          <a:ln/>
        </p:spPr>
        <p:txBody>
          <a:bodyPr wrap="none" rtlCol="0" anchor="t"/>
          <a:lstStyle/>
          <a:p>
            <a:pPr marL="0" indent="0">
              <a:lnSpc>
                <a:spcPts val="2843"/>
              </a:lnSpc>
              <a:buNone/>
            </a:pPr>
            <a:r>
              <a:rPr lang="en-US" sz="2187" dirty="0">
                <a:solidFill>
                  <a:srgbClr val="312F2B"/>
                </a:solidFill>
                <a:latin typeface="Lato" panose="020F0502020204030203" pitchFamily="34" charset="0"/>
                <a:ea typeface="Lato" panose="020F0502020204030203" pitchFamily="34" charset="0"/>
                <a:cs typeface="Lato" panose="020F0502020204030203" pitchFamily="34" charset="0"/>
              </a:rPr>
              <a:t>Support Vector Machine</a:t>
            </a:r>
            <a:endParaRPr lang="en-US" sz="2187" dirty="0">
              <a:latin typeface="Lato" panose="020F0502020204030203" pitchFamily="34" charset="0"/>
              <a:ea typeface="Lato" panose="020F0502020204030203" pitchFamily="34" charset="0"/>
              <a:cs typeface="Lato" panose="020F0502020204030203" pitchFamily="34" charset="0"/>
            </a:endParaRPr>
          </a:p>
        </p:txBody>
      </p:sp>
      <p:sp>
        <p:nvSpPr>
          <p:cNvPr id="9" name="Text 4"/>
          <p:cNvSpPr/>
          <p:nvPr/>
        </p:nvSpPr>
        <p:spPr>
          <a:xfrm>
            <a:off x="7582734" y="5252704"/>
            <a:ext cx="6211014" cy="2712948"/>
          </a:xfrm>
          <a:prstGeom prst="rect">
            <a:avLst/>
          </a:prstGeom>
          <a:noFill/>
          <a:ln/>
        </p:spPr>
        <p:txBody>
          <a:bodyPr wrap="square" rtlCol="0" anchor="t"/>
          <a:lstStyle/>
          <a:p>
            <a:pPr marL="0" indent="0">
              <a:lnSpc>
                <a:spcPts val="3149"/>
              </a:lnSpc>
              <a:buNone/>
            </a:pPr>
            <a:r>
              <a:rPr lang="en-GB" sz="1750" dirty="0">
                <a:solidFill>
                  <a:srgbClr val="272525"/>
                </a:solidFill>
                <a:latin typeface="Lato" pitchFamily="34" charset="0"/>
                <a:ea typeface="Lato" pitchFamily="34" charset="-122"/>
                <a:cs typeface="Lato" pitchFamily="34" charset="-120"/>
              </a:rPr>
              <a:t>Support Vector Machine (SVM) is a powerful supervised learning algorithm used for classification and regression tasks. It finds an optimal hyperplane that separates different classes in the data by maximizing the margin between them. SVM can handle high-dimensional data, works well with both linear and nonlinear relationships, and is effective in handling outliers.</a:t>
            </a:r>
            <a:endParaRPr lang="en-US" sz="1750" dirty="0"/>
          </a:p>
        </p:txBody>
      </p:sp>
      <p:sp>
        <p:nvSpPr>
          <p:cNvPr id="10" name="TextBox 9">
            <a:extLst>
              <a:ext uri="{FF2B5EF4-FFF2-40B4-BE49-F238E27FC236}">
                <a16:creationId xmlns:a16="http://schemas.microsoft.com/office/drawing/2014/main" id="{4AAC96C6-5139-DFA6-8D3D-131EA8829BE8}"/>
              </a:ext>
            </a:extLst>
          </p:cNvPr>
          <p:cNvSpPr txBox="1"/>
          <p:nvPr/>
        </p:nvSpPr>
        <p:spPr>
          <a:xfrm>
            <a:off x="796499" y="630971"/>
            <a:ext cx="3126177" cy="772391"/>
          </a:xfrm>
          <a:prstGeom prst="rect">
            <a:avLst/>
          </a:prstGeom>
          <a:noFill/>
        </p:spPr>
        <p:txBody>
          <a:bodyPr wrap="none" rtlCol="0">
            <a:spAutoFit/>
          </a:bodyPr>
          <a:lstStyle/>
          <a:p>
            <a:pPr marL="0" indent="0">
              <a:lnSpc>
                <a:spcPts val="5686"/>
              </a:lnSpc>
              <a:buNone/>
            </a:pPr>
            <a:r>
              <a:rPr lang="en-US" sz="4000" dirty="0">
                <a:solidFill>
                  <a:srgbClr val="312F2B"/>
                </a:solidFill>
                <a:latin typeface="Georgia" pitchFamily="34" charset="0"/>
                <a:ea typeface="Georgia" pitchFamily="34" charset="-122"/>
                <a:cs typeface="Georgia" pitchFamily="34" charset="-120"/>
              </a:rPr>
              <a:t>Models Used</a:t>
            </a:r>
            <a:endParaRPr lang="en-US" sz="4000" dirty="0"/>
          </a:p>
        </p:txBody>
      </p:sp>
    </p:spTree>
    <p:extLst>
      <p:ext uri="{BB962C8B-B14F-4D97-AF65-F5344CB8AC3E}">
        <p14:creationId xmlns:p14="http://schemas.microsoft.com/office/powerpoint/2010/main" val="40972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pic>
        <p:nvPicPr>
          <p:cNvPr id="4" name="Image 1" descr="preencoded.png"/>
          <p:cNvPicPr>
            <a:picLocks noChangeAspect="1"/>
          </p:cNvPicPr>
          <p:nvPr/>
        </p:nvPicPr>
        <p:blipFill>
          <a:blip r:embed="rId4"/>
          <a:stretch>
            <a:fillRect/>
          </a:stretch>
        </p:blipFill>
        <p:spPr>
          <a:xfrm>
            <a:off x="0" y="0"/>
            <a:ext cx="14630400" cy="8169088"/>
          </a:xfrm>
          <a:prstGeom prst="rect">
            <a:avLst/>
          </a:prstGeom>
        </p:spPr>
      </p:pic>
      <p:sp>
        <p:nvSpPr>
          <p:cNvPr id="5" name="Shape 1"/>
          <p:cNvSpPr/>
          <p:nvPr/>
        </p:nvSpPr>
        <p:spPr>
          <a:xfrm>
            <a:off x="0" y="0"/>
            <a:ext cx="14630400" cy="8169088"/>
          </a:xfrm>
          <a:prstGeom prst="rect">
            <a:avLst/>
          </a:prstGeom>
          <a:solidFill>
            <a:srgbClr val="FFFFFF">
              <a:alpha val="85000"/>
            </a:srgbClr>
          </a:solidFill>
          <a:ln/>
        </p:spPr>
      </p:sp>
      <p:sp>
        <p:nvSpPr>
          <p:cNvPr id="6" name="Text 2"/>
          <p:cNvSpPr/>
          <p:nvPr/>
        </p:nvSpPr>
        <p:spPr>
          <a:xfrm>
            <a:off x="728425" y="1392156"/>
            <a:ext cx="6515100" cy="573325"/>
          </a:xfrm>
          <a:prstGeom prst="rect">
            <a:avLst/>
          </a:prstGeom>
          <a:noFill/>
          <a:ln/>
        </p:spPr>
        <p:txBody>
          <a:bodyPr wrap="none" rtlCol="0" anchor="t"/>
          <a:lstStyle/>
          <a:p>
            <a:pPr marL="0" indent="0">
              <a:lnSpc>
                <a:spcPts val="4549"/>
              </a:lnSpc>
              <a:buNone/>
            </a:pPr>
            <a:r>
              <a:rPr lang="en-US" sz="3499" dirty="0">
                <a:solidFill>
                  <a:srgbClr val="312F2B"/>
                </a:solidFill>
                <a:latin typeface="Georgia" pitchFamily="34" charset="0"/>
                <a:ea typeface="Georgia" pitchFamily="34" charset="-122"/>
                <a:cs typeface="Georgia" pitchFamily="34" charset="-120"/>
              </a:rPr>
              <a:t>Dimensionality Reduction - PCA</a:t>
            </a:r>
            <a:endParaRPr lang="en-US" sz="3499" dirty="0"/>
          </a:p>
        </p:txBody>
      </p:sp>
      <p:sp>
        <p:nvSpPr>
          <p:cNvPr id="7" name="Text 3"/>
          <p:cNvSpPr/>
          <p:nvPr/>
        </p:nvSpPr>
        <p:spPr>
          <a:xfrm>
            <a:off x="833198" y="2084531"/>
            <a:ext cx="6720126" cy="1625444"/>
          </a:xfrm>
          <a:prstGeom prst="rect">
            <a:avLst/>
          </a:prstGeom>
          <a:noFill/>
          <a:ln/>
        </p:spPr>
        <p:txBody>
          <a:bodyPr wrap="square" rtlCol="0" anchor="t"/>
          <a:lstStyle/>
          <a:p>
            <a:pPr marL="285750" indent="-285750">
              <a:lnSpc>
                <a:spcPts val="3149"/>
              </a:lnSpc>
              <a:buFont typeface="Wingdings" panose="05000000000000000000" pitchFamily="2" charset="2"/>
              <a:buChar char="q"/>
            </a:pPr>
            <a:r>
              <a:rPr lang="en-US" sz="1750" dirty="0">
                <a:solidFill>
                  <a:srgbClr val="272525"/>
                </a:solidFill>
                <a:latin typeface="Lato" pitchFamily="34" charset="0"/>
                <a:ea typeface="Lato" pitchFamily="34" charset="-122"/>
                <a:cs typeface="Lato" pitchFamily="34" charset="-120"/>
              </a:rPr>
              <a:t>PCA is a technique used to reduce the number of dimensions in a dataset while retaining most of the data's variation. In our case, we applied PCA to our high-dimensional dataset to visualize the data in a lower-dimensional space.</a:t>
            </a:r>
            <a:endParaRPr lang="en-US" sz="1750" dirty="0"/>
          </a:p>
        </p:txBody>
      </p:sp>
      <p:sp>
        <p:nvSpPr>
          <p:cNvPr id="8" name="Text 4"/>
          <p:cNvSpPr/>
          <p:nvPr/>
        </p:nvSpPr>
        <p:spPr>
          <a:xfrm>
            <a:off x="833198" y="3687124"/>
            <a:ext cx="6586777" cy="1665004"/>
          </a:xfrm>
          <a:prstGeom prst="rect">
            <a:avLst/>
          </a:prstGeom>
          <a:noFill/>
          <a:ln/>
        </p:spPr>
        <p:txBody>
          <a:bodyPr wrap="square" rtlCol="0" anchor="t"/>
          <a:lstStyle/>
          <a:p>
            <a:pPr marL="285750" indent="-285750">
              <a:lnSpc>
                <a:spcPts val="3149"/>
              </a:lnSpc>
              <a:buFont typeface="Wingdings" panose="05000000000000000000" pitchFamily="2" charset="2"/>
              <a:buChar char="q"/>
            </a:pPr>
            <a:r>
              <a:rPr lang="en-US" sz="1750" dirty="0">
                <a:solidFill>
                  <a:srgbClr val="272525"/>
                </a:solidFill>
                <a:latin typeface="Lato" pitchFamily="34" charset="0"/>
                <a:ea typeface="Lato" pitchFamily="34" charset="-122"/>
                <a:cs typeface="Lato" pitchFamily="34" charset="-120"/>
              </a:rPr>
              <a:t>We then used the latent components obtained from PCA as features in our SVM model. This allowed us to build a more efficient and accurate model, as compared to the one built using the original high-dimensional dataset.</a:t>
            </a:r>
            <a:endParaRPr lang="en-US" sz="1750" dirty="0"/>
          </a:p>
        </p:txBody>
      </p:sp>
      <p:sp>
        <p:nvSpPr>
          <p:cNvPr id="9" name="Text 5"/>
          <p:cNvSpPr/>
          <p:nvPr/>
        </p:nvSpPr>
        <p:spPr>
          <a:xfrm>
            <a:off x="833198" y="5329277"/>
            <a:ext cx="6515100" cy="1625444"/>
          </a:xfrm>
          <a:prstGeom prst="rect">
            <a:avLst/>
          </a:prstGeom>
          <a:noFill/>
          <a:ln/>
        </p:spPr>
        <p:txBody>
          <a:bodyPr wrap="square" rtlCol="0" anchor="t"/>
          <a:lstStyle/>
          <a:p>
            <a:pPr marL="285750" indent="-285750">
              <a:lnSpc>
                <a:spcPts val="3149"/>
              </a:lnSpc>
              <a:buFont typeface="Wingdings" panose="05000000000000000000" pitchFamily="2" charset="2"/>
              <a:buChar char="q"/>
            </a:pPr>
            <a:r>
              <a:rPr lang="en-US" sz="1750" dirty="0">
                <a:solidFill>
                  <a:srgbClr val="272525"/>
                </a:solidFill>
                <a:latin typeface="Lato" pitchFamily="34" charset="0"/>
                <a:ea typeface="Lato" pitchFamily="34" charset="-122"/>
                <a:cs typeface="Lato" pitchFamily="34" charset="-120"/>
              </a:rPr>
              <a:t>After applying PCA, we achieved an accuracy of 95% and a precision of 96%. These metrics indicate that our model is performing well and can be used for the classification task at hand.</a:t>
            </a:r>
            <a:endParaRPr lang="en-US" sz="1750" dirty="0"/>
          </a:p>
        </p:txBody>
      </p:sp>
      <p:pic>
        <p:nvPicPr>
          <p:cNvPr id="11" name="Picture 10">
            <a:extLst>
              <a:ext uri="{FF2B5EF4-FFF2-40B4-BE49-F238E27FC236}">
                <a16:creationId xmlns:a16="http://schemas.microsoft.com/office/drawing/2014/main" id="{37B0B6E5-CEC6-365F-5359-8D695C79B333}"/>
              </a:ext>
            </a:extLst>
          </p:cNvPr>
          <p:cNvPicPr>
            <a:picLocks noChangeAspect="1"/>
          </p:cNvPicPr>
          <p:nvPr/>
        </p:nvPicPr>
        <p:blipFill>
          <a:blip r:embed="rId5"/>
          <a:stretch>
            <a:fillRect/>
          </a:stretch>
        </p:blipFill>
        <p:spPr>
          <a:xfrm>
            <a:off x="8125725" y="222436"/>
            <a:ext cx="5312675" cy="3859291"/>
          </a:xfrm>
          <a:prstGeom prst="rect">
            <a:avLst/>
          </a:prstGeom>
        </p:spPr>
      </p:pic>
      <p:pic>
        <p:nvPicPr>
          <p:cNvPr id="13" name="Picture 12">
            <a:extLst>
              <a:ext uri="{FF2B5EF4-FFF2-40B4-BE49-F238E27FC236}">
                <a16:creationId xmlns:a16="http://schemas.microsoft.com/office/drawing/2014/main" id="{22781D26-12BD-0B9A-AEC1-21E69983F6A2}"/>
              </a:ext>
            </a:extLst>
          </p:cNvPr>
          <p:cNvPicPr>
            <a:picLocks noChangeAspect="1"/>
          </p:cNvPicPr>
          <p:nvPr/>
        </p:nvPicPr>
        <p:blipFill>
          <a:blip r:embed="rId6"/>
          <a:stretch>
            <a:fillRect/>
          </a:stretch>
        </p:blipFill>
        <p:spPr>
          <a:xfrm>
            <a:off x="8125725" y="4053911"/>
            <a:ext cx="5212090" cy="40268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1824335"/>
            <a:ext cx="4495800"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ResNet34 Dataset</a:t>
            </a:r>
            <a:endParaRPr lang="en-US" sz="4374" dirty="0"/>
          </a:p>
        </p:txBody>
      </p:sp>
      <p:sp>
        <p:nvSpPr>
          <p:cNvPr id="5" name="Shape 2"/>
          <p:cNvSpPr/>
          <p:nvPr/>
        </p:nvSpPr>
        <p:spPr>
          <a:xfrm>
            <a:off x="833199" y="3078654"/>
            <a:ext cx="499943" cy="496267"/>
          </a:xfrm>
          <a:prstGeom prst="roundRect">
            <a:avLst>
              <a:gd name="adj" fmla="val 11055"/>
            </a:avLst>
          </a:prstGeom>
          <a:solidFill>
            <a:srgbClr val="E8E8E3"/>
          </a:solidFill>
          <a:ln w="7620">
            <a:solidFill>
              <a:srgbClr val="D1D1C7"/>
            </a:solidFill>
            <a:prstDash val="solid"/>
          </a:ln>
        </p:spPr>
      </p:sp>
      <p:sp>
        <p:nvSpPr>
          <p:cNvPr id="6" name="Text 3"/>
          <p:cNvSpPr/>
          <p:nvPr/>
        </p:nvSpPr>
        <p:spPr>
          <a:xfrm>
            <a:off x="991672" y="3111747"/>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1</a:t>
            </a:r>
            <a:endParaRPr lang="en-US" sz="2624" dirty="0"/>
          </a:p>
        </p:txBody>
      </p:sp>
      <p:sp>
        <p:nvSpPr>
          <p:cNvPr id="7" name="Text 4"/>
          <p:cNvSpPr/>
          <p:nvPr/>
        </p:nvSpPr>
        <p:spPr>
          <a:xfrm>
            <a:off x="1555313" y="3147557"/>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Data Processing</a:t>
            </a:r>
            <a:endParaRPr lang="en-US" sz="2187" dirty="0"/>
          </a:p>
        </p:txBody>
      </p:sp>
      <p:sp>
        <p:nvSpPr>
          <p:cNvPr id="8" name="Text 5"/>
          <p:cNvSpPr/>
          <p:nvPr/>
        </p:nvSpPr>
        <p:spPr>
          <a:xfrm>
            <a:off x="1555313" y="3704336"/>
            <a:ext cx="3451146" cy="793744"/>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Followed similar steps to the EfficientNet dataset.</a:t>
            </a:r>
            <a:endParaRPr lang="en-US" sz="1750" dirty="0"/>
          </a:p>
        </p:txBody>
      </p:sp>
      <p:sp>
        <p:nvSpPr>
          <p:cNvPr id="9" name="Shape 6"/>
          <p:cNvSpPr/>
          <p:nvPr/>
        </p:nvSpPr>
        <p:spPr>
          <a:xfrm>
            <a:off x="5228630" y="3078654"/>
            <a:ext cx="499943" cy="496267"/>
          </a:xfrm>
          <a:prstGeom prst="roundRect">
            <a:avLst>
              <a:gd name="adj" fmla="val 11055"/>
            </a:avLst>
          </a:prstGeom>
          <a:solidFill>
            <a:srgbClr val="E8E8E3"/>
          </a:solidFill>
          <a:ln w="7620">
            <a:solidFill>
              <a:srgbClr val="D1D1C7"/>
            </a:solidFill>
            <a:prstDash val="solid"/>
          </a:ln>
        </p:spPr>
      </p:sp>
      <p:sp>
        <p:nvSpPr>
          <p:cNvPr id="10" name="Text 7"/>
          <p:cNvSpPr/>
          <p:nvPr/>
        </p:nvSpPr>
        <p:spPr>
          <a:xfrm>
            <a:off x="5387102" y="3111747"/>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2</a:t>
            </a:r>
            <a:endParaRPr lang="en-US" sz="2624" dirty="0"/>
          </a:p>
        </p:txBody>
      </p:sp>
      <p:sp>
        <p:nvSpPr>
          <p:cNvPr id="11" name="Text 8"/>
          <p:cNvSpPr/>
          <p:nvPr/>
        </p:nvSpPr>
        <p:spPr>
          <a:xfrm>
            <a:off x="5950744" y="3147557"/>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Model Building</a:t>
            </a:r>
            <a:endParaRPr lang="en-US" sz="2187" dirty="0"/>
          </a:p>
        </p:txBody>
      </p:sp>
      <p:sp>
        <p:nvSpPr>
          <p:cNvPr id="12" name="Text 9"/>
          <p:cNvSpPr/>
          <p:nvPr/>
        </p:nvSpPr>
        <p:spPr>
          <a:xfrm>
            <a:off x="5950744" y="3704336"/>
            <a:ext cx="3451146" cy="1190616"/>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Built Random Forest and SVM models and checked their performance on the test dataset.</a:t>
            </a:r>
            <a:endParaRPr lang="en-US" sz="1750" dirty="0"/>
          </a:p>
        </p:txBody>
      </p:sp>
      <p:sp>
        <p:nvSpPr>
          <p:cNvPr id="13" name="Shape 10"/>
          <p:cNvSpPr/>
          <p:nvPr/>
        </p:nvSpPr>
        <p:spPr>
          <a:xfrm>
            <a:off x="9624060" y="3078654"/>
            <a:ext cx="499943" cy="496267"/>
          </a:xfrm>
          <a:prstGeom prst="roundRect">
            <a:avLst>
              <a:gd name="adj" fmla="val 11055"/>
            </a:avLst>
          </a:prstGeom>
          <a:solidFill>
            <a:srgbClr val="E8E8E3"/>
          </a:solidFill>
          <a:ln w="7620">
            <a:solidFill>
              <a:srgbClr val="D1D1C7"/>
            </a:solidFill>
            <a:prstDash val="solid"/>
          </a:ln>
        </p:spPr>
      </p:sp>
      <p:sp>
        <p:nvSpPr>
          <p:cNvPr id="14" name="Text 11"/>
          <p:cNvSpPr/>
          <p:nvPr/>
        </p:nvSpPr>
        <p:spPr>
          <a:xfrm>
            <a:off x="9782532" y="3111747"/>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3</a:t>
            </a:r>
            <a:endParaRPr lang="en-US" sz="2624" dirty="0"/>
          </a:p>
        </p:txBody>
      </p:sp>
      <p:sp>
        <p:nvSpPr>
          <p:cNvPr id="15" name="Text 12"/>
          <p:cNvSpPr/>
          <p:nvPr/>
        </p:nvSpPr>
        <p:spPr>
          <a:xfrm>
            <a:off x="10346174" y="3147557"/>
            <a:ext cx="3345180"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Dimensionality Reduction</a:t>
            </a:r>
            <a:endParaRPr lang="en-US" sz="2187" dirty="0"/>
          </a:p>
        </p:txBody>
      </p:sp>
      <p:sp>
        <p:nvSpPr>
          <p:cNvPr id="16" name="Text 13"/>
          <p:cNvSpPr/>
          <p:nvPr/>
        </p:nvSpPr>
        <p:spPr>
          <a:xfrm>
            <a:off x="10346174" y="3704336"/>
            <a:ext cx="3451146" cy="793744"/>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Performed PCA for dimensionality reduction.</a:t>
            </a:r>
            <a:endParaRPr lang="en-US" sz="1750" dirty="0"/>
          </a:p>
        </p:txBody>
      </p:sp>
      <p:sp>
        <p:nvSpPr>
          <p:cNvPr id="17" name="Shape 14"/>
          <p:cNvSpPr/>
          <p:nvPr/>
        </p:nvSpPr>
        <p:spPr>
          <a:xfrm>
            <a:off x="833199" y="5322199"/>
            <a:ext cx="499943" cy="496267"/>
          </a:xfrm>
          <a:prstGeom prst="roundRect">
            <a:avLst>
              <a:gd name="adj" fmla="val 11055"/>
            </a:avLst>
          </a:prstGeom>
          <a:solidFill>
            <a:srgbClr val="E8E8E3"/>
          </a:solidFill>
          <a:ln w="7620">
            <a:solidFill>
              <a:srgbClr val="D1D1C7"/>
            </a:solidFill>
            <a:prstDash val="solid"/>
          </a:ln>
        </p:spPr>
      </p:sp>
      <p:sp>
        <p:nvSpPr>
          <p:cNvPr id="18" name="Text 15"/>
          <p:cNvSpPr/>
          <p:nvPr/>
        </p:nvSpPr>
        <p:spPr>
          <a:xfrm>
            <a:off x="991672" y="5355291"/>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4</a:t>
            </a:r>
            <a:endParaRPr lang="en-US" sz="2624" dirty="0"/>
          </a:p>
        </p:txBody>
      </p:sp>
      <p:sp>
        <p:nvSpPr>
          <p:cNvPr id="19" name="Text 16"/>
          <p:cNvSpPr/>
          <p:nvPr/>
        </p:nvSpPr>
        <p:spPr>
          <a:xfrm>
            <a:off x="1555313" y="5391102"/>
            <a:ext cx="2529840"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Model Performance</a:t>
            </a:r>
            <a:endParaRPr lang="en-US" sz="2187" dirty="0"/>
          </a:p>
        </p:txBody>
      </p:sp>
      <p:sp>
        <p:nvSpPr>
          <p:cNvPr id="20" name="Text 17"/>
          <p:cNvSpPr/>
          <p:nvPr/>
        </p:nvSpPr>
        <p:spPr>
          <a:xfrm>
            <a:off x="1555313" y="5947881"/>
            <a:ext cx="12241887"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ResNet34 models performed better than EfficientNet models.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833199" y="2361968"/>
            <a:ext cx="8458200"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Model Performance Comparison:</a:t>
            </a:r>
            <a:endParaRPr lang="en-US" sz="4374" dirty="0"/>
          </a:p>
        </p:txBody>
      </p:sp>
      <p:sp>
        <p:nvSpPr>
          <p:cNvPr id="5" name="Shape 2"/>
          <p:cNvSpPr/>
          <p:nvPr/>
        </p:nvSpPr>
        <p:spPr>
          <a:xfrm>
            <a:off x="833199" y="3563930"/>
            <a:ext cx="12964001" cy="2243190"/>
          </a:xfrm>
          <a:prstGeom prst="roundRect">
            <a:avLst>
              <a:gd name="adj" fmla="val 2446"/>
            </a:avLst>
          </a:prstGeom>
          <a:noFill/>
          <a:ln w="7620">
            <a:solidFill>
              <a:srgbClr val="000000">
                <a:alpha val="8000"/>
              </a:srgbClr>
            </a:solidFill>
            <a:prstDash val="solid"/>
          </a:ln>
        </p:spPr>
      </p:sp>
      <p:sp>
        <p:nvSpPr>
          <p:cNvPr id="6" name="Shape 3"/>
          <p:cNvSpPr/>
          <p:nvPr/>
        </p:nvSpPr>
        <p:spPr>
          <a:xfrm>
            <a:off x="840819" y="3571494"/>
            <a:ext cx="12948761" cy="742687"/>
          </a:xfrm>
          <a:prstGeom prst="rect">
            <a:avLst/>
          </a:prstGeom>
          <a:solidFill>
            <a:srgbClr val="FFFFFF">
              <a:alpha val="6000"/>
            </a:srgbClr>
          </a:solidFill>
          <a:ln/>
        </p:spPr>
      </p:sp>
      <p:sp>
        <p:nvSpPr>
          <p:cNvPr id="7" name="Text 4"/>
          <p:cNvSpPr/>
          <p:nvPr/>
        </p:nvSpPr>
        <p:spPr>
          <a:xfrm>
            <a:off x="1062990" y="3744402"/>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Dataset</a:t>
            </a:r>
            <a:endParaRPr lang="en-US" sz="1750" dirty="0"/>
          </a:p>
        </p:txBody>
      </p:sp>
      <p:sp>
        <p:nvSpPr>
          <p:cNvPr id="8" name="Text 5"/>
          <p:cNvSpPr/>
          <p:nvPr/>
        </p:nvSpPr>
        <p:spPr>
          <a:xfrm>
            <a:off x="4303990" y="3744402"/>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Random Forest</a:t>
            </a:r>
            <a:endParaRPr lang="en-US" sz="1750" dirty="0"/>
          </a:p>
        </p:txBody>
      </p:sp>
      <p:sp>
        <p:nvSpPr>
          <p:cNvPr id="9" name="Text 6"/>
          <p:cNvSpPr/>
          <p:nvPr/>
        </p:nvSpPr>
        <p:spPr>
          <a:xfrm>
            <a:off x="7541181" y="3744402"/>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SVM</a:t>
            </a:r>
            <a:endParaRPr lang="en-US" sz="1750" dirty="0"/>
          </a:p>
        </p:txBody>
      </p:sp>
      <p:sp>
        <p:nvSpPr>
          <p:cNvPr id="10" name="Text 7"/>
          <p:cNvSpPr/>
          <p:nvPr/>
        </p:nvSpPr>
        <p:spPr>
          <a:xfrm>
            <a:off x="10778371" y="3744402"/>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SVM with PCA</a:t>
            </a:r>
            <a:endParaRPr lang="en-US" sz="1750" dirty="0"/>
          </a:p>
        </p:txBody>
      </p:sp>
      <p:sp>
        <p:nvSpPr>
          <p:cNvPr id="11" name="Shape 8"/>
          <p:cNvSpPr/>
          <p:nvPr/>
        </p:nvSpPr>
        <p:spPr>
          <a:xfrm>
            <a:off x="840819" y="4314182"/>
            <a:ext cx="12948761" cy="742687"/>
          </a:xfrm>
          <a:prstGeom prst="rect">
            <a:avLst/>
          </a:prstGeom>
          <a:solidFill>
            <a:srgbClr val="000000">
              <a:alpha val="6000"/>
            </a:srgbClr>
          </a:solidFill>
          <a:ln/>
        </p:spPr>
      </p:sp>
      <p:sp>
        <p:nvSpPr>
          <p:cNvPr id="12" name="Text 9"/>
          <p:cNvSpPr/>
          <p:nvPr/>
        </p:nvSpPr>
        <p:spPr>
          <a:xfrm>
            <a:off x="1062990" y="4487089"/>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efficientNet</a:t>
            </a:r>
            <a:endParaRPr lang="en-US" sz="1750" dirty="0"/>
          </a:p>
        </p:txBody>
      </p:sp>
      <p:sp>
        <p:nvSpPr>
          <p:cNvPr id="13" name="Text 10"/>
          <p:cNvSpPr/>
          <p:nvPr/>
        </p:nvSpPr>
        <p:spPr>
          <a:xfrm>
            <a:off x="4303990" y="4487089"/>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73%</a:t>
            </a:r>
            <a:endParaRPr lang="en-US" sz="1750" dirty="0"/>
          </a:p>
        </p:txBody>
      </p:sp>
      <p:sp>
        <p:nvSpPr>
          <p:cNvPr id="14" name="Text 11"/>
          <p:cNvSpPr/>
          <p:nvPr/>
        </p:nvSpPr>
        <p:spPr>
          <a:xfrm>
            <a:off x="7541181" y="4487089"/>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84%</a:t>
            </a:r>
            <a:endParaRPr lang="en-US" sz="1750" dirty="0"/>
          </a:p>
        </p:txBody>
      </p:sp>
      <p:sp>
        <p:nvSpPr>
          <p:cNvPr id="15" name="Text 12"/>
          <p:cNvSpPr/>
          <p:nvPr/>
        </p:nvSpPr>
        <p:spPr>
          <a:xfrm>
            <a:off x="10778371" y="4487089"/>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85%</a:t>
            </a:r>
            <a:endParaRPr lang="en-US" sz="1750" dirty="0"/>
          </a:p>
        </p:txBody>
      </p:sp>
      <p:sp>
        <p:nvSpPr>
          <p:cNvPr id="16" name="Shape 13"/>
          <p:cNvSpPr/>
          <p:nvPr/>
        </p:nvSpPr>
        <p:spPr>
          <a:xfrm>
            <a:off x="840819" y="5056869"/>
            <a:ext cx="12948761" cy="742687"/>
          </a:xfrm>
          <a:prstGeom prst="rect">
            <a:avLst/>
          </a:prstGeom>
          <a:solidFill>
            <a:srgbClr val="FFFFFF">
              <a:alpha val="6000"/>
            </a:srgbClr>
          </a:solidFill>
          <a:ln/>
        </p:spPr>
      </p:sp>
      <p:sp>
        <p:nvSpPr>
          <p:cNvPr id="17" name="Text 14"/>
          <p:cNvSpPr/>
          <p:nvPr/>
        </p:nvSpPr>
        <p:spPr>
          <a:xfrm>
            <a:off x="1062990" y="5229777"/>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resnet34</a:t>
            </a:r>
            <a:endParaRPr lang="en-US" sz="1750" dirty="0"/>
          </a:p>
        </p:txBody>
      </p:sp>
      <p:sp>
        <p:nvSpPr>
          <p:cNvPr id="18" name="Text 15"/>
          <p:cNvSpPr/>
          <p:nvPr/>
        </p:nvSpPr>
        <p:spPr>
          <a:xfrm>
            <a:off x="4303990" y="5229777"/>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92%</a:t>
            </a:r>
            <a:endParaRPr lang="en-US" sz="1750" dirty="0"/>
          </a:p>
        </p:txBody>
      </p:sp>
      <p:sp>
        <p:nvSpPr>
          <p:cNvPr id="19" name="Text 16"/>
          <p:cNvSpPr/>
          <p:nvPr/>
        </p:nvSpPr>
        <p:spPr>
          <a:xfrm>
            <a:off x="7541181" y="5229777"/>
            <a:ext cx="278522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94%</a:t>
            </a:r>
            <a:endParaRPr lang="en-US" sz="1750" dirty="0"/>
          </a:p>
        </p:txBody>
      </p:sp>
      <p:sp>
        <p:nvSpPr>
          <p:cNvPr id="20" name="Text 17"/>
          <p:cNvSpPr/>
          <p:nvPr/>
        </p:nvSpPr>
        <p:spPr>
          <a:xfrm>
            <a:off x="10778371" y="5229777"/>
            <a:ext cx="2789039" cy="396872"/>
          </a:xfrm>
          <a:prstGeom prst="rect">
            <a:avLst/>
          </a:prstGeom>
          <a:noFill/>
          <a:ln/>
        </p:spPr>
        <p:txBody>
          <a:bodyPr wrap="non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96%</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4" name="Text 1"/>
          <p:cNvSpPr/>
          <p:nvPr/>
        </p:nvSpPr>
        <p:spPr>
          <a:xfrm>
            <a:off x="6319599" y="2152304"/>
            <a:ext cx="7269480" cy="716804"/>
          </a:xfrm>
          <a:prstGeom prst="rect">
            <a:avLst/>
          </a:prstGeom>
          <a:noFill/>
          <a:ln/>
        </p:spPr>
        <p:txBody>
          <a:bodyPr wrap="none" rtlCol="0" anchor="t"/>
          <a:lstStyle/>
          <a:p>
            <a:pPr marL="0" indent="0">
              <a:lnSpc>
                <a:spcPts val="5686"/>
              </a:lnSpc>
              <a:buNone/>
            </a:pPr>
            <a:r>
              <a:rPr lang="en-US" sz="4374" dirty="0">
                <a:solidFill>
                  <a:srgbClr val="312F2B"/>
                </a:solidFill>
                <a:latin typeface="Georgia" pitchFamily="34" charset="0"/>
                <a:ea typeface="Georgia" pitchFamily="34" charset="-122"/>
                <a:cs typeface="Georgia" pitchFamily="34" charset="-120"/>
              </a:rPr>
              <a:t>Conclusion and Future Work</a:t>
            </a:r>
            <a:endParaRPr lang="en-US" sz="4374" dirty="0"/>
          </a:p>
        </p:txBody>
      </p:sp>
      <p:sp>
        <p:nvSpPr>
          <p:cNvPr id="5" name="Shape 2"/>
          <p:cNvSpPr/>
          <p:nvPr/>
        </p:nvSpPr>
        <p:spPr>
          <a:xfrm>
            <a:off x="6319599" y="3406623"/>
            <a:ext cx="499943" cy="496267"/>
          </a:xfrm>
          <a:prstGeom prst="roundRect">
            <a:avLst>
              <a:gd name="adj" fmla="val 11055"/>
            </a:avLst>
          </a:prstGeom>
          <a:solidFill>
            <a:srgbClr val="E8E8E3"/>
          </a:solidFill>
          <a:ln w="7620">
            <a:solidFill>
              <a:srgbClr val="D1D1C7"/>
            </a:solidFill>
            <a:prstDash val="solid"/>
          </a:ln>
        </p:spPr>
      </p:sp>
      <p:sp>
        <p:nvSpPr>
          <p:cNvPr id="6" name="Text 3"/>
          <p:cNvSpPr/>
          <p:nvPr/>
        </p:nvSpPr>
        <p:spPr>
          <a:xfrm>
            <a:off x="6478072" y="3439716"/>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1</a:t>
            </a:r>
            <a:endParaRPr lang="en-US" sz="2624" dirty="0"/>
          </a:p>
        </p:txBody>
      </p:sp>
      <p:sp>
        <p:nvSpPr>
          <p:cNvPr id="7" name="Text 4"/>
          <p:cNvSpPr/>
          <p:nvPr/>
        </p:nvSpPr>
        <p:spPr>
          <a:xfrm>
            <a:off x="7041713" y="3475526"/>
            <a:ext cx="2552700"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Objective Achieved:</a:t>
            </a:r>
            <a:endParaRPr lang="en-US" sz="2187" dirty="0"/>
          </a:p>
        </p:txBody>
      </p:sp>
      <p:sp>
        <p:nvSpPr>
          <p:cNvPr id="8" name="Text 5"/>
          <p:cNvSpPr/>
          <p:nvPr/>
        </p:nvSpPr>
        <p:spPr>
          <a:xfrm>
            <a:off x="7041713" y="4032305"/>
            <a:ext cx="2905601" cy="1587488"/>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Successfully classified cones using machine learning techniques and achieved high accuracy.</a:t>
            </a:r>
            <a:endParaRPr lang="en-US" sz="1750" dirty="0"/>
          </a:p>
        </p:txBody>
      </p:sp>
      <p:sp>
        <p:nvSpPr>
          <p:cNvPr id="9" name="Shape 6"/>
          <p:cNvSpPr/>
          <p:nvPr/>
        </p:nvSpPr>
        <p:spPr>
          <a:xfrm>
            <a:off x="10169485" y="3406623"/>
            <a:ext cx="499943" cy="496267"/>
          </a:xfrm>
          <a:prstGeom prst="roundRect">
            <a:avLst>
              <a:gd name="adj" fmla="val 11055"/>
            </a:avLst>
          </a:prstGeom>
          <a:solidFill>
            <a:srgbClr val="E8E8E3"/>
          </a:solidFill>
          <a:ln w="7620">
            <a:solidFill>
              <a:srgbClr val="D1D1C7"/>
            </a:solidFill>
            <a:prstDash val="solid"/>
          </a:ln>
        </p:spPr>
      </p:sp>
      <p:sp>
        <p:nvSpPr>
          <p:cNvPr id="10" name="Text 7"/>
          <p:cNvSpPr/>
          <p:nvPr/>
        </p:nvSpPr>
        <p:spPr>
          <a:xfrm>
            <a:off x="10327958" y="3439716"/>
            <a:ext cx="182880" cy="429964"/>
          </a:xfrm>
          <a:prstGeom prst="rect">
            <a:avLst/>
          </a:prstGeom>
          <a:noFill/>
          <a:ln/>
        </p:spPr>
        <p:txBody>
          <a:bodyPr wrap="none" rtlCol="0" anchor="t"/>
          <a:lstStyle/>
          <a:p>
            <a:pPr marL="0" indent="0" algn="ctr">
              <a:lnSpc>
                <a:spcPts val="3412"/>
              </a:lnSpc>
              <a:buNone/>
            </a:pPr>
            <a:r>
              <a:rPr lang="en-US" sz="2624" dirty="0">
                <a:solidFill>
                  <a:srgbClr val="272525"/>
                </a:solidFill>
                <a:latin typeface="Georgia" pitchFamily="34" charset="0"/>
                <a:ea typeface="Georgia" pitchFamily="34" charset="-122"/>
                <a:cs typeface="Georgia" pitchFamily="34" charset="-120"/>
              </a:rPr>
              <a:t>2</a:t>
            </a:r>
            <a:endParaRPr lang="en-US" sz="2624" dirty="0"/>
          </a:p>
        </p:txBody>
      </p:sp>
      <p:sp>
        <p:nvSpPr>
          <p:cNvPr id="11" name="Text 8"/>
          <p:cNvSpPr/>
          <p:nvPr/>
        </p:nvSpPr>
        <p:spPr>
          <a:xfrm>
            <a:off x="10891599" y="3475526"/>
            <a:ext cx="2221944" cy="358343"/>
          </a:xfrm>
          <a:prstGeom prst="rect">
            <a:avLst/>
          </a:prstGeom>
          <a:noFill/>
          <a:ln/>
        </p:spPr>
        <p:txBody>
          <a:bodyPr wrap="none" rtlCol="0" anchor="t"/>
          <a:lstStyle/>
          <a:p>
            <a:pPr marL="0" indent="0">
              <a:lnSpc>
                <a:spcPts val="2843"/>
              </a:lnSpc>
              <a:buNone/>
            </a:pPr>
            <a:r>
              <a:rPr lang="en-US" sz="2187" dirty="0">
                <a:solidFill>
                  <a:srgbClr val="272525"/>
                </a:solidFill>
                <a:latin typeface="Georgia" pitchFamily="34" charset="0"/>
                <a:ea typeface="Georgia" pitchFamily="34" charset="-122"/>
                <a:cs typeface="Georgia" pitchFamily="34" charset="-120"/>
              </a:rPr>
              <a:t>Future Work:</a:t>
            </a:r>
            <a:endParaRPr lang="en-US" sz="2187" dirty="0"/>
          </a:p>
        </p:txBody>
      </p:sp>
      <p:sp>
        <p:nvSpPr>
          <p:cNvPr id="12" name="Text 9"/>
          <p:cNvSpPr/>
          <p:nvPr/>
        </p:nvSpPr>
        <p:spPr>
          <a:xfrm>
            <a:off x="10891599" y="4032305"/>
            <a:ext cx="2905601" cy="1984360"/>
          </a:xfrm>
          <a:prstGeom prst="rect">
            <a:avLst/>
          </a:prstGeom>
          <a:noFill/>
          <a:ln/>
        </p:spPr>
        <p:txBody>
          <a:bodyPr wrap="square" rtlCol="0" anchor="t"/>
          <a:lstStyle/>
          <a:p>
            <a:pPr marL="0" indent="0">
              <a:lnSpc>
                <a:spcPts val="3149"/>
              </a:lnSpc>
              <a:buNone/>
            </a:pPr>
            <a:r>
              <a:rPr lang="en-US" sz="1750" dirty="0">
                <a:solidFill>
                  <a:srgbClr val="272525"/>
                </a:solidFill>
                <a:latin typeface="Lato" pitchFamily="34" charset="0"/>
                <a:ea typeface="Lato" pitchFamily="34" charset="-122"/>
                <a:cs typeface="Lato" pitchFamily="34" charset="-120"/>
              </a:rPr>
              <a:t>Exploring other pre-trained neural networks and improving the downsampling technique to address class imbalance.</a:t>
            </a:r>
            <a:endParaRPr lang="en-US" sz="1750" dirty="0"/>
          </a:p>
        </p:txBody>
      </p:sp>
      <p:pic>
        <p:nvPicPr>
          <p:cNvPr id="13" name="Image 1" descr="preencoded.png"/>
          <p:cNvPicPr>
            <a:picLocks noChangeAspect="1"/>
          </p:cNvPicPr>
          <p:nvPr/>
        </p:nvPicPr>
        <p:blipFill>
          <a:blip r:embed="rId4"/>
          <a:stretch>
            <a:fillRect/>
          </a:stretch>
        </p:blipFill>
        <p:spPr>
          <a:xfrm>
            <a:off x="0" y="0"/>
            <a:ext cx="5486400" cy="8169088"/>
          </a:xfrm>
          <a:prstGeom prst="rect">
            <a:avLst/>
          </a:prstGeom>
        </p:spPr>
      </p:pic>
      <p:pic>
        <p:nvPicPr>
          <p:cNvPr id="15" name="Picture 14" descr="A race car on a blue background&#10;&#10;Description automatically generated">
            <a:extLst>
              <a:ext uri="{FF2B5EF4-FFF2-40B4-BE49-F238E27FC236}">
                <a16:creationId xmlns:a16="http://schemas.microsoft.com/office/drawing/2014/main" id="{070FE97D-142D-2C3F-1D25-4F6291CC3045}"/>
              </a:ext>
            </a:extLst>
          </p:cNvPr>
          <p:cNvPicPr>
            <a:picLocks noChangeAspect="1"/>
          </p:cNvPicPr>
          <p:nvPr/>
        </p:nvPicPr>
        <p:blipFill>
          <a:blip r:embed="rId5"/>
          <a:stretch>
            <a:fillRect/>
          </a:stretch>
        </p:blipFill>
        <p:spPr>
          <a:xfrm rot="5400000">
            <a:off x="-1371601" y="1371600"/>
            <a:ext cx="8229600" cy="5486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169088"/>
          </a:xfrm>
          <a:prstGeom prst="rect">
            <a:avLst/>
          </a:prstGeom>
        </p:spPr>
      </p:pic>
      <p:sp>
        <p:nvSpPr>
          <p:cNvPr id="3" name="Shape 0"/>
          <p:cNvSpPr/>
          <p:nvPr/>
        </p:nvSpPr>
        <p:spPr>
          <a:xfrm>
            <a:off x="0" y="0"/>
            <a:ext cx="14630400" cy="8229600"/>
          </a:xfrm>
          <a:prstGeom prst="rect">
            <a:avLst/>
          </a:prstGeom>
          <a:solidFill>
            <a:srgbClr val="FFFFFF">
              <a:alpha val="75000"/>
            </a:srgbClr>
          </a:solidFill>
          <a:ln w="7620">
            <a:solidFill>
              <a:srgbClr val="FFFFFF">
                <a:alpha val="64000"/>
              </a:srgbClr>
            </a:solidFill>
            <a:prstDash val="solid"/>
          </a:ln>
        </p:spPr>
      </p:sp>
      <p:sp>
        <p:nvSpPr>
          <p:cNvPr id="16" name="Shape 13"/>
          <p:cNvSpPr/>
          <p:nvPr/>
        </p:nvSpPr>
        <p:spPr>
          <a:xfrm>
            <a:off x="840819" y="5056869"/>
            <a:ext cx="12948761" cy="742687"/>
          </a:xfrm>
          <a:prstGeom prst="rect">
            <a:avLst/>
          </a:prstGeom>
          <a:solidFill>
            <a:srgbClr val="FFFFFF">
              <a:alpha val="6000"/>
            </a:srgbClr>
          </a:solidFill>
          <a:ln/>
        </p:spPr>
      </p:sp>
      <p:pic>
        <p:nvPicPr>
          <p:cNvPr id="22" name="Picture 21" descr="A black and white text&#10;&#10;Description automatically generated">
            <a:extLst>
              <a:ext uri="{FF2B5EF4-FFF2-40B4-BE49-F238E27FC236}">
                <a16:creationId xmlns:a16="http://schemas.microsoft.com/office/drawing/2014/main" id="{31DA6962-04C5-2A81-8429-E67DDA3095DA}"/>
              </a:ext>
            </a:extLst>
          </p:cNvPr>
          <p:cNvPicPr>
            <a:picLocks noChangeAspect="1"/>
          </p:cNvPicPr>
          <p:nvPr/>
        </p:nvPicPr>
        <p:blipFill>
          <a:blip r:embed="rId4"/>
          <a:stretch>
            <a:fillRect/>
          </a:stretch>
        </p:blipFill>
        <p:spPr>
          <a:xfrm>
            <a:off x="4244055" y="2924175"/>
            <a:ext cx="5595270" cy="2169181"/>
          </a:xfrm>
          <a:prstGeom prst="rect">
            <a:avLst/>
          </a:prstGeom>
        </p:spPr>
      </p:pic>
    </p:spTree>
    <p:extLst>
      <p:ext uri="{BB962C8B-B14F-4D97-AF65-F5344CB8AC3E}">
        <p14:creationId xmlns:p14="http://schemas.microsoft.com/office/powerpoint/2010/main" val="2648568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1081</Words>
  <Application>Microsoft Office PowerPoint</Application>
  <PresentationFormat>Custom</PresentationFormat>
  <Paragraphs>133</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Georgia</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SUDIP KISHAN SARKER</cp:lastModifiedBy>
  <cp:revision>11</cp:revision>
  <dcterms:created xsi:type="dcterms:W3CDTF">2023-07-10T23:30:42Z</dcterms:created>
  <dcterms:modified xsi:type="dcterms:W3CDTF">2023-07-11T20:07:55Z</dcterms:modified>
</cp:coreProperties>
</file>